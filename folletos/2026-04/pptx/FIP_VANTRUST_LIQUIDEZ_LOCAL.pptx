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Local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  <c:pt idx="10">
                    <c:v>May 2026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1000</c:v>
                </c:pt>
                <c:pt idx="1">
                  <c:v>1006.64</c:v>
                </c:pt>
                <c:pt idx="2">
                  <c:v>1012.84</c:v>
                </c:pt>
                <c:pt idx="3">
                  <c:v>1019.61</c:v>
                </c:pt>
                <c:pt idx="4">
                  <c:v>1026.19</c:v>
                </c:pt>
                <c:pt idx="5">
                  <c:v>1032.67</c:v>
                </c:pt>
                <c:pt idx="6">
                  <c:v>1040.1</c:v>
                </c:pt>
                <c:pt idx="7">
                  <c:v>1046.29</c:v>
                </c:pt>
                <c:pt idx="8">
                  <c:v>1052.93</c:v>
                </c:pt>
                <c:pt idx="9">
                  <c:v>1059.36</c:v>
                </c:pt>
                <c:pt idx="10">
                  <c:v>1060.43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  <c:pt idx="10">
                    <c:v>May 2026</c:v>
                  </c:pt>
                </c:lvl>
              </c:multiLvlStrCache>
            </c:multiLvl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1000</c:v>
                </c:pt>
                <c:pt idx="1">
                  <c:v>1008.08</c:v>
                </c:pt>
                <c:pt idx="2">
                  <c:v>1020.29</c:v>
                </c:pt>
                <c:pt idx="3">
                  <c:v>1031.83</c:v>
                </c:pt>
                <c:pt idx="4">
                  <c:v>1035.71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950"/>
        </c:scaling>
        <c:delete val="0"/>
        <c:axPos val="l"/>
        <c:majorGridlines>
          <c:spPr>
            <a:ln w="635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42032" cy="18288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64592"/>
            <a:ext cx="21945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400" dirty="0"/>
          </a:p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82880" y="1536192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5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560320" y="0"/>
            <a:ext cx="0" cy="10689336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97480" y="137160"/>
            <a:ext cx="4636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228600" y="19202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228600" y="2121408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" y="21945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80" dirty="0"/>
          </a:p>
        </p:txBody>
      </p:sp>
      <p:sp>
        <p:nvSpPr>
          <p:cNvPr id="10" name="Text 8"/>
          <p:cNvSpPr/>
          <p:nvPr/>
        </p:nvSpPr>
        <p:spPr>
          <a:xfrm>
            <a:off x="1161288" y="219456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80" dirty="0"/>
          </a:p>
        </p:txBody>
      </p:sp>
      <p:sp>
        <p:nvSpPr>
          <p:cNvPr id="11" name="Text 9"/>
          <p:cNvSpPr/>
          <p:nvPr/>
        </p:nvSpPr>
        <p:spPr>
          <a:xfrm>
            <a:off x="228600" y="23774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80" dirty="0"/>
          </a:p>
        </p:txBody>
      </p:sp>
      <p:sp>
        <p:nvSpPr>
          <p:cNvPr id="12" name="Text 10"/>
          <p:cNvSpPr/>
          <p:nvPr/>
        </p:nvSpPr>
        <p:spPr>
          <a:xfrm>
            <a:off x="1161288" y="23774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80" dirty="0"/>
          </a:p>
        </p:txBody>
      </p:sp>
      <p:sp>
        <p:nvSpPr>
          <p:cNvPr id="13" name="Text 11"/>
          <p:cNvSpPr/>
          <p:nvPr/>
        </p:nvSpPr>
        <p:spPr>
          <a:xfrm>
            <a:off x="228600" y="256032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80" dirty="0"/>
          </a:p>
        </p:txBody>
      </p:sp>
      <p:sp>
        <p:nvSpPr>
          <p:cNvPr id="14" name="Text 12"/>
          <p:cNvSpPr/>
          <p:nvPr/>
        </p:nvSpPr>
        <p:spPr>
          <a:xfrm>
            <a:off x="1161288" y="256032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80" dirty="0"/>
          </a:p>
        </p:txBody>
      </p:sp>
      <p:sp>
        <p:nvSpPr>
          <p:cNvPr id="15" name="Text 13"/>
          <p:cNvSpPr/>
          <p:nvPr/>
        </p:nvSpPr>
        <p:spPr>
          <a:xfrm>
            <a:off x="228600" y="274320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80" dirty="0"/>
          </a:p>
        </p:txBody>
      </p:sp>
      <p:sp>
        <p:nvSpPr>
          <p:cNvPr id="16" name="Text 14"/>
          <p:cNvSpPr/>
          <p:nvPr/>
        </p:nvSpPr>
        <p:spPr>
          <a:xfrm>
            <a:off x="1161288" y="274320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80" dirty="0"/>
          </a:p>
        </p:txBody>
      </p:sp>
      <p:sp>
        <p:nvSpPr>
          <p:cNvPr id="17" name="Text 15"/>
          <p:cNvSpPr/>
          <p:nvPr/>
        </p:nvSpPr>
        <p:spPr>
          <a:xfrm>
            <a:off x="228600" y="292608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80" dirty="0"/>
          </a:p>
        </p:txBody>
      </p:sp>
      <p:sp>
        <p:nvSpPr>
          <p:cNvPr id="18" name="Text 16"/>
          <p:cNvSpPr/>
          <p:nvPr/>
        </p:nvSpPr>
        <p:spPr>
          <a:xfrm>
            <a:off x="1161288" y="292608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2025</a:t>
            </a:r>
            <a:endParaRPr lang="en-US" sz="680" dirty="0"/>
          </a:p>
        </p:txBody>
      </p:sp>
      <p:sp>
        <p:nvSpPr>
          <p:cNvPr id="19" name="Text 17"/>
          <p:cNvSpPr/>
          <p:nvPr/>
        </p:nvSpPr>
        <p:spPr>
          <a:xfrm>
            <a:off x="228600" y="31089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80" dirty="0"/>
          </a:p>
        </p:txBody>
      </p:sp>
      <p:sp>
        <p:nvSpPr>
          <p:cNvPr id="20" name="Text 18"/>
          <p:cNvSpPr/>
          <p:nvPr/>
        </p:nvSpPr>
        <p:spPr>
          <a:xfrm>
            <a:off x="1161288" y="310896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80" dirty="0"/>
          </a:p>
        </p:txBody>
      </p:sp>
      <p:sp>
        <p:nvSpPr>
          <p:cNvPr id="21" name="Text 19"/>
          <p:cNvSpPr/>
          <p:nvPr/>
        </p:nvSpPr>
        <p:spPr>
          <a:xfrm>
            <a:off x="228600" y="32918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80" dirty="0"/>
          </a:p>
        </p:txBody>
      </p:sp>
      <p:sp>
        <p:nvSpPr>
          <p:cNvPr id="22" name="Text 20"/>
          <p:cNvSpPr/>
          <p:nvPr/>
        </p:nvSpPr>
        <p:spPr>
          <a:xfrm>
            <a:off x="1161288" y="32918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228600" y="347472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80" dirty="0"/>
          </a:p>
        </p:txBody>
      </p:sp>
      <p:sp>
        <p:nvSpPr>
          <p:cNvPr id="24" name="Text 22"/>
          <p:cNvSpPr/>
          <p:nvPr/>
        </p:nvSpPr>
        <p:spPr>
          <a:xfrm>
            <a:off x="1161288" y="347472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80" dirty="0"/>
          </a:p>
        </p:txBody>
      </p:sp>
      <p:sp>
        <p:nvSpPr>
          <p:cNvPr id="25" name="Text 23"/>
          <p:cNvSpPr/>
          <p:nvPr/>
        </p:nvSpPr>
        <p:spPr>
          <a:xfrm>
            <a:off x="228600" y="36576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80" dirty="0"/>
          </a:p>
        </p:txBody>
      </p:sp>
      <p:sp>
        <p:nvSpPr>
          <p:cNvPr id="26" name="Text 24"/>
          <p:cNvSpPr/>
          <p:nvPr/>
        </p:nvSpPr>
        <p:spPr>
          <a:xfrm>
            <a:off x="1161288" y="365760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80" dirty="0"/>
          </a:p>
        </p:txBody>
      </p:sp>
      <p:sp>
        <p:nvSpPr>
          <p:cNvPr id="27" name="Text 25"/>
          <p:cNvSpPr/>
          <p:nvPr/>
        </p:nvSpPr>
        <p:spPr>
          <a:xfrm>
            <a:off x="228600" y="393192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1161288" y="393192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80" dirty="0"/>
          </a:p>
        </p:txBody>
      </p:sp>
      <p:sp>
        <p:nvSpPr>
          <p:cNvPr id="29" name="Text 27"/>
          <p:cNvSpPr/>
          <p:nvPr/>
        </p:nvSpPr>
        <p:spPr>
          <a:xfrm>
            <a:off x="228600" y="42062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80" dirty="0"/>
          </a:p>
        </p:txBody>
      </p:sp>
      <p:sp>
        <p:nvSpPr>
          <p:cNvPr id="30" name="Text 28"/>
          <p:cNvSpPr/>
          <p:nvPr/>
        </p:nvSpPr>
        <p:spPr>
          <a:xfrm>
            <a:off x="1161288" y="42062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80" dirty="0"/>
          </a:p>
        </p:txBody>
      </p:sp>
      <p:sp>
        <p:nvSpPr>
          <p:cNvPr id="31" name="Shape 29"/>
          <p:cNvSpPr/>
          <p:nvPr/>
        </p:nvSpPr>
        <p:spPr>
          <a:xfrm>
            <a:off x="228600" y="4443984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28600" y="4535424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228600" y="4718304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228600" y="5468112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28600" y="5559552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228600" y="5742432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LOCAL, es la tasa de política monetaria promedio del Banco Central de Chile.</a:t>
            </a:r>
            <a:endParaRPr lang="en-US" sz="700" dirty="0"/>
          </a:p>
        </p:txBody>
      </p:sp>
      <p:sp>
        <p:nvSpPr>
          <p:cNvPr id="37" name="Shape 35"/>
          <p:cNvSpPr/>
          <p:nvPr/>
        </p:nvSpPr>
        <p:spPr>
          <a:xfrm>
            <a:off x="228600" y="6400800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28600" y="64922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228600" y="667512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2697480" y="137160"/>
            <a:ext cx="46360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2697480" y="429768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97480" y="521208"/>
            <a:ext cx="463600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CLP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2697480" y="2212848"/>
            <a:ext cx="46360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Local</a:t>
            </a:r>
            <a:endParaRPr lang="en-US" sz="800" dirty="0"/>
          </a:p>
        </p:txBody>
      </p:sp>
      <p:graphicFrame>
        <p:nvGraphicFramePr>
          <p:cNvPr id="44" name="Chart 0" descr=""/>
          <p:cNvGraphicFramePr/>
          <p:nvPr/>
        </p:nvGraphicFramePr>
        <p:xfrm>
          <a:off x="2697480" y="2395728"/>
          <a:ext cx="4636008" cy="1828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5" name="Text 42"/>
          <p:cNvSpPr/>
          <p:nvPr/>
        </p:nvSpPr>
        <p:spPr>
          <a:xfrm>
            <a:off x="2697480" y="4389120"/>
            <a:ext cx="4636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97480" y="4663440"/>
          <a:ext cx="4636008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594360"/>
                <a:gridCol w="658368"/>
                <a:gridCol w="658368"/>
                <a:gridCol w="594360"/>
                <a:gridCol w="621792"/>
              </a:tblGrid>
              <a:tr h="1920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1,25%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4,59%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1,85%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47" name="Text 43"/>
          <p:cNvSpPr/>
          <p:nvPr/>
        </p:nvSpPr>
        <p:spPr>
          <a:xfrm>
            <a:off x="2697480" y="5477256"/>
            <a:ext cx="463600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48" name="Shape 44"/>
          <p:cNvSpPr/>
          <p:nvPr/>
        </p:nvSpPr>
        <p:spPr>
          <a:xfrm>
            <a:off x="2697480" y="5660136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97480" y="5724144"/>
          <a:ext cx="463600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749808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301752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LOCAL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LOCAL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4203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024128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5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560320" y="0"/>
            <a:ext cx="0" cy="10689336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697480" y="137160"/>
            <a:ext cx="4636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228600" y="14630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228600" y="1664208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28600" y="1755648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508760" y="1755648"/>
            <a:ext cx="960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4,91%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228600" y="2066544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28600" y="2157984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General por Instrumentos Financieros</a:t>
            </a:r>
            <a:endParaRPr lang="en-US" sz="8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2359152"/>
          <a:ext cx="2240280" cy="914400"/>
        </p:xfrm>
        <a:graphic>
          <a:graphicData uri="http://schemas.openxmlformats.org/drawingml/2006/table">
            <a:tbl>
              <a:tblPr/>
              <a:tblGrid>
                <a:gridCol w="1207008"/>
                <a:gridCol w="502920"/>
                <a:gridCol w="530352"/>
              </a:tblGrid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Límites de Inversión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cPr/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Mínimo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Máximo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Bonos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Depósitos a Plazo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Facturas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Financiamientos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(Inmobiliario, Mezzanine, etc.)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Efectos de Comercio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Pagaré Banco Central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Caja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3" name="Shape 10"/>
          <p:cNvSpPr/>
          <p:nvPr/>
        </p:nvSpPr>
        <p:spPr>
          <a:xfrm>
            <a:off x="228600" y="4123944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228600" y="4215384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228600" y="4443984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Menos de 1 mes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1645920" y="4443984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228600" y="4663440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1-3 meses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1645920" y="4663440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228600" y="488289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3-4 meses</a:t>
            </a:r>
            <a:endParaRPr lang="en-US" sz="800" dirty="0"/>
          </a:p>
        </p:txBody>
      </p:sp>
      <p:sp>
        <p:nvSpPr>
          <p:cNvPr id="20" name="Text 17"/>
          <p:cNvSpPr/>
          <p:nvPr/>
        </p:nvSpPr>
        <p:spPr>
          <a:xfrm>
            <a:off x="1645920" y="4882896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800" dirty="0"/>
          </a:p>
        </p:txBody>
      </p:sp>
      <p:sp>
        <p:nvSpPr>
          <p:cNvPr id="21" name="Text 18"/>
          <p:cNvSpPr/>
          <p:nvPr/>
        </p:nvSpPr>
        <p:spPr>
          <a:xfrm>
            <a:off x="228600" y="5102352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de 4 meses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1645920" y="5102352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800" dirty="0"/>
          </a:p>
        </p:txBody>
      </p:sp>
      <p:sp>
        <p:nvSpPr>
          <p:cNvPr id="23" name="Text 20"/>
          <p:cNvSpPr/>
          <p:nvPr/>
        </p:nvSpPr>
        <p:spPr>
          <a:xfrm>
            <a:off x="2697480" y="137160"/>
            <a:ext cx="46360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2697480" y="457200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5" name="Text 22"/>
          <p:cNvSpPr/>
          <p:nvPr/>
        </p:nvSpPr>
        <p:spPr>
          <a:xfrm>
            <a:off x="2697480" y="886968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6" name="Text 23"/>
          <p:cNvSpPr/>
          <p:nvPr/>
        </p:nvSpPr>
        <p:spPr>
          <a:xfrm>
            <a:off x="2697480" y="1316736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27" name="Text 24"/>
          <p:cNvSpPr/>
          <p:nvPr/>
        </p:nvSpPr>
        <p:spPr>
          <a:xfrm>
            <a:off x="2697480" y="1746504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28" name="Text 25"/>
          <p:cNvSpPr/>
          <p:nvPr/>
        </p:nvSpPr>
        <p:spPr>
          <a:xfrm>
            <a:off x="2697480" y="2176272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29" name="Text 26"/>
          <p:cNvSpPr/>
          <p:nvPr/>
        </p:nvSpPr>
        <p:spPr>
          <a:xfrm>
            <a:off x="2697480" y="2606040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0" name="Text 27"/>
          <p:cNvSpPr/>
          <p:nvPr/>
        </p:nvSpPr>
        <p:spPr>
          <a:xfrm>
            <a:off x="2697480" y="3035808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1" name="Text 28"/>
          <p:cNvSpPr/>
          <p:nvPr/>
        </p:nvSpPr>
        <p:spPr>
          <a:xfrm>
            <a:off x="2697480" y="3465576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2" name="Text 29"/>
          <p:cNvSpPr/>
          <p:nvPr/>
        </p:nvSpPr>
        <p:spPr>
          <a:xfrm>
            <a:off x="2697480" y="3895344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3" name="Shape 30"/>
          <p:cNvSpPr/>
          <p:nvPr/>
        </p:nvSpPr>
        <p:spPr>
          <a:xfrm>
            <a:off x="2697480" y="4398264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2697480" y="4526280"/>
            <a:ext cx="4636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5" name="Text 32"/>
          <p:cNvSpPr/>
          <p:nvPr/>
        </p:nvSpPr>
        <p:spPr>
          <a:xfrm>
            <a:off x="2697480" y="4800600"/>
            <a:ext cx="46360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2026-05-14T22:11:48Z</dcterms:created>
  <dcterms:modified xsi:type="dcterms:W3CDTF">2026-05-14T22:11:48Z</dcterms:modified>
</cp:coreProperties>
</file>