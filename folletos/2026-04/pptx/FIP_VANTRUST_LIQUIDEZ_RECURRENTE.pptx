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charts/chart1.xml" ContentType="application/vnd.openxmlformats-officedocument.drawingml.chart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7562088" cy="10689336"/>
  <p:notesSz cx="10689336" cy="7562088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ICP Nom.</c:v>
                </c:pt>
              </c:strCache>
            </c:strRef>
          </c:tx>
          <c:spPr>
            <a:solidFill>
              <a:srgbClr val="999999"/>
            </a:solidFill>
            <a:ln w="15240" cap="flat">
              <a:solidFill>
                <a:srgbClr val="99999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999999"/>
              </a:solidFill>
              <a:ln w="9525" cap="flat">
                <a:solidFill>
                  <a:srgbClr val="99999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Sheet1!$A$2:$A$4</c:f>
              <c:multiLvlStrCache>
                <c:ptCount val="3"/>
                <c:lvl>
                  <c:pt idx="0">
                    <c:v>2026-03-31</c:v>
                  </c:pt>
                  <c:pt idx="1">
                    <c:v>2026-04-30</c:v>
                  </c:pt>
                  <c:pt idx="2">
                    <c:v>2026-05-31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503.97</c:v>
                </c:pt>
                <c:pt idx="1">
                  <c:v>506.44</c:v>
                </c:pt>
                <c:pt idx="2">
                  <c:v>507.82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FIP LIQUIDEZ RECURRENTE</c:v>
                </c:pt>
              </c:strCache>
            </c:strRef>
          </c:tx>
          <c:spPr>
            <a:solidFill>
              <a:srgbClr val="000000"/>
            </a:solidFill>
            <a:ln w="15240" cap="flat">
              <a:solidFill>
                <a:srgbClr val="00000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00000"/>
              </a:solidFill>
              <a:ln w="9525" cap="flat">
                <a:solidFill>
                  <a:srgbClr val="00000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Sheet1!$A$2:$A$4</c:f>
              <c:multiLvlStrCache>
                <c:ptCount val="3"/>
                <c:lvl>
                  <c:pt idx="0">
                    <c:v>2026-03-31</c:v>
                  </c:pt>
                  <c:pt idx="1">
                    <c:v>2026-04-30</c:v>
                  </c:pt>
                  <c:pt idx="2">
                    <c:v>2026-05-31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1000</c:v>
                </c:pt>
                <c:pt idx="1">
                  <c:v>1004.68</c:v>
                </c:pt>
                <c:pt idx="2">
                  <c:v>1005.46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Competencia Relevante (*)</c:v>
                </c:pt>
              </c:strCache>
            </c:strRef>
          </c:tx>
          <c:spPr>
            <a:solidFill>
              <a:srgbClr val="555555"/>
            </a:solidFill>
            <a:ln w="15240" cap="flat">
              <a:solidFill>
                <a:srgbClr val="555555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555555"/>
              </a:solidFill>
              <a:ln w="9525" cap="flat">
                <a:solidFill>
                  <a:srgbClr val="555555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Sheet1!$A$2:$A$4</c:f>
              <c:multiLvlStrCache>
                <c:ptCount val="3"/>
                <c:lvl>
                  <c:pt idx="0">
                    <c:v>2026-03-31</c:v>
                  </c:pt>
                  <c:pt idx="1">
                    <c:v>2026-04-30</c:v>
                  </c:pt>
                  <c:pt idx="2">
                    <c:v>2026-05-31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887.8</c:v>
                </c:pt>
                <c:pt idx="1">
                  <c:v>889.66</c:v>
                </c:pt>
                <c:pt idx="2">
                  <c:v>893.63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  <c:tickLblSkip val="1"/>
      </c:catAx>
      <c:valAx>
        <c:axId val="2094734552"/>
        <c:scaling>
          <c:orientation val="minMax"/>
          <c:min val="488"/>
        </c:scaling>
        <c:delete val="0"/>
        <c:axPos val="l"/>
        <c:majorGridlines>
          <c:spPr>
            <a:ln w="3810" cap="flat">
              <a:solidFill>
                <a:srgbClr val="EEEEEE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600" b="0" i="0" u="none" strike="noStrike">
                <a:solidFill>
                  <a:srgbClr val="666666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600">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73736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64592"/>
            <a:ext cx="221284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Recurrente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18872" y="142646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5" name="Shape 3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" y="182880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General</a:t>
            </a:r>
            <a:endParaRPr lang="en-US" sz="800" dirty="0"/>
          </a:p>
        </p:txBody>
      </p:sp>
      <p:sp>
        <p:nvSpPr>
          <p:cNvPr id="7" name="Shape 5"/>
          <p:cNvSpPr/>
          <p:nvPr/>
        </p:nvSpPr>
        <p:spPr>
          <a:xfrm>
            <a:off x="118872" y="201168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" y="207568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Administradora</a:t>
            </a:r>
            <a:endParaRPr lang="en-US" sz="650" dirty="0"/>
          </a:p>
        </p:txBody>
      </p:sp>
      <p:sp>
        <p:nvSpPr>
          <p:cNvPr id="9" name="Text 7"/>
          <p:cNvSpPr/>
          <p:nvPr/>
        </p:nvSpPr>
        <p:spPr>
          <a:xfrm>
            <a:off x="1051560" y="207568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Gestion Patrimonial S.A.</a:t>
            </a:r>
            <a:endParaRPr lang="en-US" sz="650" dirty="0"/>
          </a:p>
        </p:txBody>
      </p:sp>
      <p:sp>
        <p:nvSpPr>
          <p:cNvPr id="10" name="Text 8"/>
          <p:cNvSpPr/>
          <p:nvPr/>
        </p:nvSpPr>
        <p:spPr>
          <a:xfrm>
            <a:off x="118872" y="224942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RUT Fondo</a:t>
            </a:r>
            <a:endParaRPr lang="en-US" sz="650" dirty="0"/>
          </a:p>
        </p:txBody>
      </p:sp>
      <p:sp>
        <p:nvSpPr>
          <p:cNvPr id="11" name="Text 9"/>
          <p:cNvSpPr/>
          <p:nvPr/>
        </p:nvSpPr>
        <p:spPr>
          <a:xfrm>
            <a:off x="1051560" y="224942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76,637,334-8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118872" y="242316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Moneda</a:t>
            </a:r>
            <a:endParaRPr lang="en-US" sz="650" dirty="0"/>
          </a:p>
        </p:txBody>
      </p:sp>
      <p:sp>
        <p:nvSpPr>
          <p:cNvPr id="13" name="Text 11"/>
          <p:cNvSpPr/>
          <p:nvPr/>
        </p:nvSpPr>
        <p:spPr>
          <a:xfrm>
            <a:off x="1051560" y="242316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650" dirty="0"/>
          </a:p>
        </p:txBody>
      </p:sp>
      <p:sp>
        <p:nvSpPr>
          <p:cNvPr id="14" name="Text 12"/>
          <p:cNvSpPr/>
          <p:nvPr/>
        </p:nvSpPr>
        <p:spPr>
          <a:xfrm>
            <a:off x="118872" y="2596896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Tipo de Fondo</a:t>
            </a:r>
            <a:endParaRPr lang="en-US" sz="650" dirty="0"/>
          </a:p>
        </p:txBody>
      </p:sp>
      <p:sp>
        <p:nvSpPr>
          <p:cNvPr id="15" name="Text 13"/>
          <p:cNvSpPr/>
          <p:nvPr/>
        </p:nvSpPr>
        <p:spPr>
          <a:xfrm>
            <a:off x="1051560" y="2596896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Inversión Privado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118872" y="2770632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 Inicio</a:t>
            </a:r>
            <a:endParaRPr lang="en-US" sz="650" dirty="0"/>
          </a:p>
        </p:txBody>
      </p:sp>
      <p:sp>
        <p:nvSpPr>
          <p:cNvPr id="17" name="Text 15"/>
          <p:cNvSpPr/>
          <p:nvPr/>
        </p:nvSpPr>
        <p:spPr>
          <a:xfrm>
            <a:off x="1051560" y="2770632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Agosto 2020</a:t>
            </a:r>
            <a:endParaRPr lang="en-US" sz="650" dirty="0"/>
          </a:p>
        </p:txBody>
      </p:sp>
      <p:sp>
        <p:nvSpPr>
          <p:cNvPr id="18" name="Text 16"/>
          <p:cNvSpPr/>
          <p:nvPr/>
        </p:nvSpPr>
        <p:spPr>
          <a:xfrm>
            <a:off x="118872" y="294436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Benchmark</a:t>
            </a:r>
            <a:endParaRPr lang="en-US" sz="650" dirty="0"/>
          </a:p>
        </p:txBody>
      </p:sp>
      <p:sp>
        <p:nvSpPr>
          <p:cNvPr id="19" name="Text 17"/>
          <p:cNvSpPr/>
          <p:nvPr/>
        </p:nvSpPr>
        <p:spPr>
          <a:xfrm>
            <a:off x="1051560" y="294436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Índice Cámara Promedio (ICP)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118872" y="3118104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Rescatable</a:t>
            </a:r>
            <a:endParaRPr lang="en-US" sz="650" dirty="0"/>
          </a:p>
        </p:txBody>
      </p:sp>
      <p:sp>
        <p:nvSpPr>
          <p:cNvPr id="21" name="Text 19"/>
          <p:cNvSpPr/>
          <p:nvPr/>
        </p:nvSpPr>
        <p:spPr>
          <a:xfrm>
            <a:off x="1051560" y="3118104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Sí</a:t>
            </a:r>
            <a:endParaRPr lang="en-US" sz="650" dirty="0"/>
          </a:p>
        </p:txBody>
      </p:sp>
      <p:sp>
        <p:nvSpPr>
          <p:cNvPr id="22" name="Text 20"/>
          <p:cNvSpPr/>
          <p:nvPr/>
        </p:nvSpPr>
        <p:spPr>
          <a:xfrm>
            <a:off x="118872" y="3291840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Plazo Rescate</a:t>
            </a:r>
            <a:endParaRPr lang="en-US" sz="650" dirty="0"/>
          </a:p>
        </p:txBody>
      </p:sp>
      <p:sp>
        <p:nvSpPr>
          <p:cNvPr id="23" name="Text 21"/>
          <p:cNvSpPr/>
          <p:nvPr/>
        </p:nvSpPr>
        <p:spPr>
          <a:xfrm>
            <a:off x="1051560" y="3291840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 tardar 15 días corridos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118872" y="3465576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Riesgos</a:t>
            </a:r>
            <a:endParaRPr lang="en-US" sz="650" dirty="0"/>
          </a:p>
        </p:txBody>
      </p:sp>
      <p:sp>
        <p:nvSpPr>
          <p:cNvPr id="25" name="Text 23"/>
          <p:cNvSpPr/>
          <p:nvPr/>
        </p:nvSpPr>
        <p:spPr>
          <a:xfrm>
            <a:off x="1051560" y="3465576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Mercado- Crédito - Liquidez - Tasa de interés - Derivados</a:t>
            </a:r>
            <a:endParaRPr lang="en-US" sz="650" dirty="0"/>
          </a:p>
        </p:txBody>
      </p:sp>
      <p:sp>
        <p:nvSpPr>
          <p:cNvPr id="26" name="Text 24"/>
          <p:cNvSpPr/>
          <p:nvPr/>
        </p:nvSpPr>
        <p:spPr>
          <a:xfrm>
            <a:off x="118872" y="3730752"/>
            <a:ext cx="914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Remuneración</a:t>
            </a:r>
            <a:endParaRPr lang="en-US" sz="650" dirty="0"/>
          </a:p>
        </p:txBody>
      </p:sp>
      <p:sp>
        <p:nvSpPr>
          <p:cNvPr id="27" name="Text 25"/>
          <p:cNvSpPr/>
          <p:nvPr/>
        </p:nvSpPr>
        <p:spPr>
          <a:xfrm>
            <a:off x="1051560" y="3730752"/>
            <a:ext cx="128016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0,295% IVA Incluido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118872" y="3995928"/>
            <a:ext cx="91440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Custodio</a:t>
            </a:r>
            <a:endParaRPr lang="en-US" sz="650" dirty="0"/>
          </a:p>
        </p:txBody>
      </p:sp>
      <p:sp>
        <p:nvSpPr>
          <p:cNvPr id="29" name="Text 27"/>
          <p:cNvSpPr/>
          <p:nvPr/>
        </p:nvSpPr>
        <p:spPr>
          <a:xfrm>
            <a:off x="1051560" y="3995928"/>
            <a:ext cx="1280160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Vantrust Capital C. de Bolsa</a:t>
            </a:r>
            <a:endParaRPr lang="en-US" sz="650" dirty="0"/>
          </a:p>
        </p:txBody>
      </p:sp>
      <p:sp>
        <p:nvSpPr>
          <p:cNvPr id="30" name="Shape 28"/>
          <p:cNvSpPr/>
          <p:nvPr/>
        </p:nvSpPr>
        <p:spPr>
          <a:xfrm>
            <a:off x="118872" y="4169664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118872" y="4261104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118872" y="4443984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118872" y="4507992"/>
            <a:ext cx="221284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Invertir los recursos del fondo en instrumentos de deuda de corto y mediano plazo, en una cartera diversificada, obteniendo una rentabilidad igual o superior al ICP.</a:t>
            </a:r>
            <a:endParaRPr lang="en-US" sz="700" dirty="0"/>
          </a:p>
        </p:txBody>
      </p:sp>
      <p:sp>
        <p:nvSpPr>
          <p:cNvPr id="34" name="Shape 32"/>
          <p:cNvSpPr/>
          <p:nvPr/>
        </p:nvSpPr>
        <p:spPr>
          <a:xfrm>
            <a:off x="118872" y="5212080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118872" y="530352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Rentabilidad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118872" y="548640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118872" y="5550408"/>
            <a:ext cx="221284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rentabilidad esperada del Fip Vantrust Liquidez Recurrente, es la tasa de política monetaria promedio del Banco Central de Chile.</a:t>
            </a:r>
            <a:endParaRPr lang="en-US" sz="700" dirty="0"/>
          </a:p>
        </p:txBody>
      </p:sp>
      <p:sp>
        <p:nvSpPr>
          <p:cNvPr id="38" name="Shape 36"/>
          <p:cNvSpPr/>
          <p:nvPr/>
        </p:nvSpPr>
        <p:spPr>
          <a:xfrm>
            <a:off x="118872" y="620877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118872" y="630021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Inversionistas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118872" y="648309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118872" y="6547104"/>
            <a:ext cx="2212848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5555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Dirigida a empresas y personas que buscan invertir sus excedentes de caja con una rentabilidad de corto plazo y baja tolerancia al riesgo.</a:t>
            </a:r>
            <a:endParaRPr lang="en-US" sz="700" dirty="0"/>
          </a:p>
        </p:txBody>
      </p:sp>
      <p:sp>
        <p:nvSpPr>
          <p:cNvPr id="42" name="Text 40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Comentario Portafolio Manager</a:t>
            </a:r>
            <a:endParaRPr lang="en-US" sz="1300" dirty="0"/>
          </a:p>
        </p:txBody>
      </p:sp>
      <p:sp>
        <p:nvSpPr>
          <p:cNvPr id="43" name="Shape 41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2606040" y="502920"/>
            <a:ext cx="481888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just" indent="0" marL="0">
              <a:buNone/>
            </a:pPr>
            <a:r>
              <a:rPr lang="en-US" sz="8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prueba 12 CLP</a:t>
            </a:r>
            <a:endParaRPr lang="en-US" sz="800" dirty="0"/>
          </a:p>
        </p:txBody>
      </p:sp>
      <p:sp>
        <p:nvSpPr>
          <p:cNvPr id="45" name="Text 43"/>
          <p:cNvSpPr/>
          <p:nvPr/>
        </p:nvSpPr>
        <p:spPr>
          <a:xfrm>
            <a:off x="2606040" y="2240280"/>
            <a:ext cx="481888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Liquidez Recurrente</a:t>
            </a:r>
            <a:endParaRPr lang="en-US" sz="750" dirty="0"/>
          </a:p>
        </p:txBody>
      </p:sp>
      <p:graphicFrame>
        <p:nvGraphicFramePr>
          <p:cNvPr id="46" name="Chart 0" descr=""/>
          <p:cNvGraphicFramePr/>
          <p:nvPr/>
        </p:nvGraphicFramePr>
        <p:xfrm>
          <a:off x="2606040" y="2395728"/>
          <a:ext cx="4818888" cy="1691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7" name="Text 44"/>
          <p:cNvSpPr/>
          <p:nvPr/>
        </p:nvSpPr>
        <p:spPr>
          <a:xfrm>
            <a:off x="2606040" y="4242816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Evolución Rentabilidad</a:t>
            </a:r>
            <a:endParaRPr lang="en-US" sz="1300" dirty="0"/>
          </a:p>
        </p:txBody>
      </p:sp>
      <p:sp>
        <p:nvSpPr>
          <p:cNvPr id="48" name="Shape 45"/>
          <p:cNvSpPr/>
          <p:nvPr/>
        </p:nvSpPr>
        <p:spPr>
          <a:xfrm>
            <a:off x="2606040" y="4498848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4572000"/>
          <a:ext cx="4818888" cy="914400"/>
        </p:xfrm>
        <a:graphic>
          <a:graphicData uri="http://schemas.openxmlformats.org/drawingml/2006/table">
            <a:tbl>
              <a:tblPr/>
              <a:tblGrid>
                <a:gridCol w="1298448"/>
                <a:gridCol w="566928"/>
                <a:gridCol w="658368"/>
                <a:gridCol w="658368"/>
                <a:gridCol w="566928"/>
                <a:gridCol w="594360"/>
              </a:tblGrid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Rentabilidad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Mensual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Trimestral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Semestral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Anual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Acum.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 (*)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 (Benchmark)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0,37%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1,13%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2,30%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4,82%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3,39%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0,26%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0,77%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1,62%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3,43%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2,32%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18288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RECURRENTE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0,47%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33333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7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" cap="flat" cmpd="sng" algn="ctr">
                      <a:solidFill>
                        <a:srgbClr val="DDDD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0" name="Text 46"/>
          <p:cNvSpPr/>
          <p:nvPr/>
        </p:nvSpPr>
        <p:spPr>
          <a:xfrm>
            <a:off x="2606040" y="5349240"/>
            <a:ext cx="4818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*Valores correspondientes a la rentabilidad anualizada, no acumulada</a:t>
            </a:r>
            <a:endParaRPr lang="en-US" sz="600" dirty="0"/>
          </a:p>
        </p:txBody>
      </p:sp>
      <p:sp>
        <p:nvSpPr>
          <p:cNvPr id="51" name="Shape 47"/>
          <p:cNvSpPr/>
          <p:nvPr/>
        </p:nvSpPr>
        <p:spPr>
          <a:xfrm>
            <a:off x="2606040" y="5513832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606040" y="5577840"/>
          <a:ext cx="4818888" cy="914400"/>
        </p:xfrm>
        <a:graphic>
          <a:graphicData uri="http://schemas.openxmlformats.org/drawingml/2006/table">
            <a:tbl>
              <a:tblPr/>
              <a:tblGrid>
                <a:gridCol w="201168"/>
                <a:gridCol w="822960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46888"/>
                <a:gridCol w="283464"/>
              </a:tblGrid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Ene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Feb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Abr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May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Sep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Oct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Nov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Dic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55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Año</a:t>
                      </a:r>
                      <a:endParaRPr lang="en-US" sz="5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2026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ICP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77777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1.51%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Competencia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0.24%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0.26%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99999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1.05%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188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FIP LIQUIDEZ RECURRENTE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500" b="1" dirty="0">
                          <a:solidFill>
                            <a:srgbClr val="00000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0.47%</a:t>
                      </a:r>
                      <a:endParaRPr lang="en-US" sz="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2540" cap="flat" cmpd="sng" algn="ctr">
                      <a:solidFill>
                        <a:srgbClr val="EEEE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450592" cy="1325880"/>
          </a:xfrm>
          <a:prstGeom prst="rect">
            <a:avLst/>
          </a:prstGeom>
          <a:solidFill>
            <a:srgbClr val="000000"/>
          </a:solidFill>
          <a:ln/>
        </p:spPr>
      </p:sp>
      <p:sp>
        <p:nvSpPr>
          <p:cNvPr id="3" name="Text 1"/>
          <p:cNvSpPr/>
          <p:nvPr/>
        </p:nvSpPr>
        <p:spPr>
          <a:xfrm>
            <a:off x="118872" y="1024128"/>
            <a:ext cx="221284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spc="400" kern="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 O N D O</a:t>
            </a:r>
            <a:endParaRPr lang="en-US" sz="700" dirty="0"/>
          </a:p>
        </p:txBody>
      </p:sp>
      <p:sp>
        <p:nvSpPr>
          <p:cNvPr id="4" name="Shape 2"/>
          <p:cNvSpPr/>
          <p:nvPr/>
        </p:nvSpPr>
        <p:spPr>
          <a:xfrm>
            <a:off x="2450592" y="0"/>
            <a:ext cx="0" cy="10689336"/>
          </a:xfrm>
          <a:prstGeom prst="line">
            <a:avLst/>
          </a:prstGeom>
          <a:noFill/>
          <a:ln w="6350">
            <a:solidFill>
              <a:srgbClr val="EEEEE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18872" y="1463040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Moneda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118872" y="1645920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8872" y="171907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CLP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1490472" y="171907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100,00%</a:t>
            </a:r>
            <a:endParaRPr lang="en-US" sz="750" dirty="0"/>
          </a:p>
        </p:txBody>
      </p:sp>
      <p:sp>
        <p:nvSpPr>
          <p:cNvPr id="9" name="Shape 7"/>
          <p:cNvSpPr/>
          <p:nvPr/>
        </p:nvSpPr>
        <p:spPr>
          <a:xfrm>
            <a:off x="118872" y="1911096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8872" y="200253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Instrumento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118872" y="2185416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8872" y="225856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1490472" y="225856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118872" y="2450592"/>
            <a:ext cx="221284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18872" y="2542032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Composición por Duración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118872" y="2724912"/>
            <a:ext cx="2212848" cy="0"/>
          </a:xfrm>
          <a:prstGeom prst="line">
            <a:avLst/>
          </a:prstGeom>
          <a:noFill/>
          <a:ln w="12700">
            <a:solidFill>
              <a:srgbClr val="00000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18872" y="2798064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Hasta 30 días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1490472" y="2798064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36,89%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118872" y="2990088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31 y 90 días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1490472" y="2990088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61,21%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18872" y="3182112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91 y 120 días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490472" y="3182112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1,90%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18872" y="3374136"/>
            <a:ext cx="1371600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1 y 2 años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1490472" y="3374136"/>
            <a:ext cx="841248" cy="1737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5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0,00%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2606040" y="137160"/>
            <a:ext cx="481888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Glosario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606040" y="411480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606040" y="50292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es el riesgo de una variación adversa en el precio o tasa de mercado en los instrumentos en que invierte el Fondo</a:t>
            </a:r>
            <a:endParaRPr lang="en-US" sz="700" dirty="0"/>
          </a:p>
        </p:txBody>
      </p:sp>
      <p:sp>
        <p:nvSpPr>
          <p:cNvPr id="28" name="Text 26"/>
          <p:cNvSpPr/>
          <p:nvPr/>
        </p:nvSpPr>
        <p:spPr>
          <a:xfrm>
            <a:off x="2606040" y="92354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Crédito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posible pérdida que se asume como consecuencia del incumplimiento de las obligaciones directas, indirectas o de derivados que conllevan al no pago parcial, total o falta de oportunidad del pago de los emisores de los instrumentos en que invierte el Fondo y que pudieran ocasionar una pérdida financiera.</a:t>
            </a:r>
            <a:endParaRPr lang="en-US" sz="700" dirty="0"/>
          </a:p>
        </p:txBody>
      </p:sp>
      <p:sp>
        <p:nvSpPr>
          <p:cNvPr id="29" name="Text 27"/>
          <p:cNvSpPr/>
          <p:nvPr/>
        </p:nvSpPr>
        <p:spPr>
          <a:xfrm>
            <a:off x="2606040" y="134416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Liquidez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asociado a la capacidad de generación de recursos del Fondo para cumplir con sus obligaciones de rescate o vencimiento del mismo.</a:t>
            </a:r>
            <a:endParaRPr lang="en-US" sz="700" dirty="0"/>
          </a:p>
        </p:txBody>
      </p:sp>
      <p:sp>
        <p:nvSpPr>
          <p:cNvPr id="30" name="Text 28"/>
          <p:cNvSpPr/>
          <p:nvPr/>
        </p:nvSpPr>
        <p:spPr>
          <a:xfrm>
            <a:off x="2606040" y="176479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Profundidad de Mercado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 a la posibilidad de comprar o vender un activo financiero al valor de mercado en un período de tiempo acorde a las características del instrumento. Períodos de alta volatilidad de mercado afectan negativamente estos tiempos.</a:t>
            </a:r>
            <a:endParaRPr lang="en-US" sz="700" dirty="0"/>
          </a:p>
        </p:txBody>
      </p:sp>
      <p:sp>
        <p:nvSpPr>
          <p:cNvPr id="31" name="Text 29"/>
          <p:cNvSpPr/>
          <p:nvPr/>
        </p:nvSpPr>
        <p:spPr>
          <a:xfrm>
            <a:off x="2606040" y="2185416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Tasa de interés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a pérdidas ocasionadas por cambios adversos en las tasas de interés de mercado y que afecten el valor de los instrumentos, contratos y demás operaciones registradas en el balance.</a:t>
            </a:r>
            <a:endParaRPr lang="en-US" sz="700" dirty="0"/>
          </a:p>
        </p:txBody>
      </p:sp>
      <p:sp>
        <p:nvSpPr>
          <p:cNvPr id="32" name="Text 30"/>
          <p:cNvSpPr/>
          <p:nvPr/>
        </p:nvSpPr>
        <p:spPr>
          <a:xfrm>
            <a:off x="2606040" y="2606040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de Moneda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la exposición a pérdidas ocasionadas por cambios adversos en el valor en moneda nacional de las monedas extranjeras que están expresados a los instrumentos, contratos y demás operaciones del balance del Fondo.</a:t>
            </a:r>
            <a:endParaRPr lang="en-US" sz="700" dirty="0"/>
          </a:p>
        </p:txBody>
      </p:sp>
      <p:sp>
        <p:nvSpPr>
          <p:cNvPr id="33" name="Text 31"/>
          <p:cNvSpPr/>
          <p:nvPr/>
        </p:nvSpPr>
        <p:spPr>
          <a:xfrm>
            <a:off x="2606040" y="3026664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Sectorial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riesgo está asociado a condiciones de mercado adversas que pueden afectar a un sector industrial en particular y por ende la rentabilidad del Fondo.</a:t>
            </a:r>
            <a:endParaRPr lang="en-US" sz="700" dirty="0"/>
          </a:p>
        </p:txBody>
      </p:sp>
      <p:sp>
        <p:nvSpPr>
          <p:cNvPr id="34" name="Text 32"/>
          <p:cNvSpPr/>
          <p:nvPr/>
        </p:nvSpPr>
        <p:spPr>
          <a:xfrm>
            <a:off x="2606040" y="3447288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Gastos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Corresponden a los gastos directos e indirectos necesarios para el correcto funcionamiento del fondo los que están detallados en el Reglamento Interno</a:t>
            </a:r>
            <a:endParaRPr lang="en-US" sz="700" dirty="0"/>
          </a:p>
        </p:txBody>
      </p:sp>
      <p:sp>
        <p:nvSpPr>
          <p:cNvPr id="35" name="Text 33"/>
          <p:cNvSpPr/>
          <p:nvPr/>
        </p:nvSpPr>
        <p:spPr>
          <a:xfrm>
            <a:off x="2606040" y="3867912"/>
            <a:ext cx="4818888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b="1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 de Ingreso y Pago del Fondo</a:t>
            </a:r>
            <a:endParaRPr lang="en-US" sz="700" dirty="0"/>
          </a:p>
          <a:p>
            <a:pPr indent="0" marL="0">
              <a:buNone/>
            </a:pPr>
            <a:r>
              <a:rPr lang="en-US" sz="70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moneda en que el inversionista entra al fondo es aportando pesos chilenos, y al rescate de las cuotas, el fondo le entrega pesos chilenos.</a:t>
            </a:r>
            <a:endParaRPr lang="en-US" sz="700" dirty="0"/>
          </a:p>
        </p:txBody>
      </p:sp>
      <p:sp>
        <p:nvSpPr>
          <p:cNvPr id="36" name="Shape 34"/>
          <p:cNvSpPr/>
          <p:nvPr/>
        </p:nvSpPr>
        <p:spPr>
          <a:xfrm>
            <a:off x="2606040" y="4361688"/>
            <a:ext cx="4818888" cy="0"/>
          </a:xfrm>
          <a:prstGeom prst="line">
            <a:avLst/>
          </a:prstGeom>
          <a:noFill/>
          <a:ln w="6350">
            <a:solidFill>
              <a:srgbClr val="DDDDD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2606040" y="4489704"/>
            <a:ext cx="4818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Disclaimer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2606040" y="4745736"/>
            <a:ext cx="4818888" cy="0"/>
          </a:xfrm>
          <a:prstGeom prst="line">
            <a:avLst/>
          </a:prstGeom>
          <a:noFill/>
          <a:ln w="19050">
            <a:solidFill>
              <a:srgbClr val="00000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2606040" y="4837176"/>
            <a:ext cx="4818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3333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Conforme a la Ley Única de Fondos, las administradoras de fondos de inversión privados están sujetas a las obligaciones de información establecidas por la Comisión para el Mercado Financiero. Tales fondos no están sometidos a fiscalización de la Comisión y no hacemos oferta pública de sus cuotas.</a:t>
            </a:r>
            <a:endParaRPr lang="en-US" sz="7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2026-05-18T17:50:45Z</dcterms:created>
  <dcterms:modified xsi:type="dcterms:W3CDTF">2026-05-18T17:50:45Z</dcterms:modified>
</cp:coreProperties>
</file>