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7562088" cy="10689336"/>
  <p:notesSz cx="10689336" cy="756208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FIP Liquidez Corto Plazo</c:v>
                </c:pt>
              </c:strCache>
            </c:strRef>
          </c:tx>
          <c:spPr>
            <a:solidFill>
              <a:srgbClr val="000000"/>
            </a:solidFill>
            <a:ln w="19050" cap="flat">
              <a:solidFill>
                <a:srgbClr val="00000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0000"/>
              </a:solidFill>
              <a:ln w="9525" cap="flat">
                <a:solidFill>
                  <a:srgbClr val="00000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Jul 2025</c:v>
                  </c:pt>
                  <c:pt idx="1">
                    <c:v>Aug 2025</c:v>
                  </c:pt>
                  <c:pt idx="2">
                    <c:v>Sep 2025</c:v>
                  </c:pt>
                  <c:pt idx="3">
                    <c:v>Oct 2025</c:v>
                  </c:pt>
                  <c:pt idx="4">
                    <c:v>Nov 2025</c:v>
                  </c:pt>
                  <c:pt idx="5">
                    <c:v>Dec 2025</c:v>
                  </c:pt>
                  <c:pt idx="6">
                    <c:v>Jan 2026</c:v>
                  </c:pt>
                  <c:pt idx="7">
                    <c:v>Feb 2026</c:v>
                  </c:pt>
                  <c:pt idx="8">
                    <c:v>Mar 2026</c:v>
                  </c:pt>
                  <c:pt idx="9">
                    <c:v>Apr 2026</c:v>
                  </c:pt>
                  <c:pt idx="10">
                    <c:v>May 2026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1000</c:v>
                </c:pt>
                <c:pt idx="1">
                  <c:v>1005.94</c:v>
                </c:pt>
                <c:pt idx="2">
                  <c:v>1011.88</c:v>
                </c:pt>
                <c:pt idx="3">
                  <c:v>1018.24</c:v>
                </c:pt>
                <c:pt idx="4">
                  <c:v>1024.1</c:v>
                </c:pt>
                <c:pt idx="5">
                  <c:v>1030.22</c:v>
                </c:pt>
                <c:pt idx="6">
                  <c:v>1037.11</c:v>
                </c:pt>
                <c:pt idx="7">
                  <c:v>1042.79</c:v>
                </c:pt>
                <c:pt idx="8">
                  <c:v>1048.96</c:v>
                </c:pt>
                <c:pt idx="9">
                  <c:v>1054.99</c:v>
                </c:pt>
                <c:pt idx="10">
                  <c:v>1055.97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ICP Nom</c:v>
                </c:pt>
              </c:strCache>
            </c:strRef>
          </c:tx>
          <c:spPr>
            <a:solidFill>
              <a:srgbClr val="999999"/>
            </a:solidFill>
            <a:ln w="19050" cap="flat">
              <a:solidFill>
                <a:srgbClr val="99999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99999"/>
              </a:solidFill>
              <a:ln w="9525" cap="flat">
                <a:solidFill>
                  <a:srgbClr val="99999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Jul 2025</c:v>
                  </c:pt>
                  <c:pt idx="1">
                    <c:v>Aug 2025</c:v>
                  </c:pt>
                  <c:pt idx="2">
                    <c:v>Sep 2025</c:v>
                  </c:pt>
                  <c:pt idx="3">
                    <c:v>Oct 2025</c:v>
                  </c:pt>
                  <c:pt idx="4">
                    <c:v>Nov 2025</c:v>
                  </c:pt>
                  <c:pt idx="5">
                    <c:v>Dec 2025</c:v>
                  </c:pt>
                  <c:pt idx="6">
                    <c:v>Jan 2026</c:v>
                  </c:pt>
                  <c:pt idx="7">
                    <c:v>Feb 2026</c:v>
                  </c:pt>
                  <c:pt idx="8">
                    <c:v>Mar 2026</c:v>
                  </c:pt>
                  <c:pt idx="9">
                    <c:v>Apr 2026</c:v>
                  </c:pt>
                  <c:pt idx="10">
                    <c:v>May 2026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1000</c:v>
                </c:pt>
                <c:pt idx="1">
                  <c:v>1008.08</c:v>
                </c:pt>
                <c:pt idx="2">
                  <c:v>1020.29</c:v>
                </c:pt>
                <c:pt idx="3">
                  <c:v>1031.83</c:v>
                </c:pt>
                <c:pt idx="4">
                  <c:v>1035.71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  <c:tickLblSkip val="1"/>
      </c:catAx>
      <c:valAx>
        <c:axId val="2094734552"/>
        <c:scaling>
          <c:orientation val="minMax"/>
          <c:min val="950"/>
        </c:scaling>
        <c:delete val="0"/>
        <c:axPos val="l"/>
        <c:majorGridlines>
          <c:spPr>
            <a:ln w="6350" cap="flat">
              <a:solidFill>
                <a:srgbClr val="EEEE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666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8288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64592"/>
            <a:ext cx="21945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Corto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82880" y="1536192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5" name="Shape 3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28600" y="1920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General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28600" y="21214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21945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Administradora</a:t>
            </a:r>
            <a:endParaRPr lang="en-US" sz="680" dirty="0"/>
          </a:p>
        </p:txBody>
      </p:sp>
      <p:sp>
        <p:nvSpPr>
          <p:cNvPr id="10" name="Text 8"/>
          <p:cNvSpPr/>
          <p:nvPr/>
        </p:nvSpPr>
        <p:spPr>
          <a:xfrm>
            <a:off x="1161288" y="21945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Gestion Patrimonial S.A.</a:t>
            </a:r>
            <a:endParaRPr lang="en-US" sz="680" dirty="0"/>
          </a:p>
        </p:txBody>
      </p:sp>
      <p:sp>
        <p:nvSpPr>
          <p:cNvPr id="11" name="Text 9"/>
          <p:cNvSpPr/>
          <p:nvPr/>
        </p:nvSpPr>
        <p:spPr>
          <a:xfrm>
            <a:off x="228600" y="23774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 Fondo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161288" y="23774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76,637,334-8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228600" y="2560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Moneda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161288" y="25603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228600" y="27432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Fondo</a:t>
            </a:r>
            <a:endParaRPr lang="en-US" sz="680" dirty="0"/>
          </a:p>
        </p:txBody>
      </p:sp>
      <p:sp>
        <p:nvSpPr>
          <p:cNvPr id="16" name="Text 14"/>
          <p:cNvSpPr/>
          <p:nvPr/>
        </p:nvSpPr>
        <p:spPr>
          <a:xfrm>
            <a:off x="1161288" y="274320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de Inversión Privado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228600" y="29260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Inicio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161288" y="292608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2025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228600" y="310896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</a:t>
            </a:r>
            <a:endParaRPr lang="en-US" sz="680" dirty="0"/>
          </a:p>
        </p:txBody>
      </p:sp>
      <p:sp>
        <p:nvSpPr>
          <p:cNvPr id="20" name="Text 18"/>
          <p:cNvSpPr/>
          <p:nvPr/>
        </p:nvSpPr>
        <p:spPr>
          <a:xfrm>
            <a:off x="1161288" y="310896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Cámara Promedio (ICP)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228600" y="32918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 Rescatable</a:t>
            </a:r>
            <a:endParaRPr lang="en-US" sz="680" dirty="0"/>
          </a:p>
        </p:txBody>
      </p:sp>
      <p:sp>
        <p:nvSpPr>
          <p:cNvPr id="22" name="Text 20"/>
          <p:cNvSpPr/>
          <p:nvPr/>
        </p:nvSpPr>
        <p:spPr>
          <a:xfrm>
            <a:off x="1161288" y="32918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228600" y="34747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Plazo Rescate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61288" y="347472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más tardar 15 días corridos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228600" y="365760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1161288" y="365760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Mercado- Crédito - Liquidez - Tasa de interés - Derivados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228600" y="39319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Remuneración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61288" y="3931920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0,295% IVA Incluido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228600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Custodio</a:t>
            </a:r>
            <a:endParaRPr lang="en-US" sz="680" dirty="0"/>
          </a:p>
        </p:txBody>
      </p:sp>
      <p:sp>
        <p:nvSpPr>
          <p:cNvPr id="30" name="Text 28"/>
          <p:cNvSpPr/>
          <p:nvPr/>
        </p:nvSpPr>
        <p:spPr>
          <a:xfrm>
            <a:off x="1161288" y="4206240"/>
            <a:ext cx="12984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8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 C. de Bolsa</a:t>
            </a:r>
            <a:endParaRPr lang="en-US" sz="680" dirty="0"/>
          </a:p>
        </p:txBody>
      </p:sp>
      <p:sp>
        <p:nvSpPr>
          <p:cNvPr id="31" name="Shape 29"/>
          <p:cNvSpPr/>
          <p:nvPr/>
        </p:nvSpPr>
        <p:spPr>
          <a:xfrm>
            <a:off x="228600" y="4443984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28600" y="4535424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228600" y="4718304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Invertir los recursos del fondo en instrumentos de deuda de corto y mediano plazo, en una cartera diversificada, obteniendo una rentabilidad igual o superior al ICP.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28600" y="5468112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" y="5559552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Rentabilidad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228600" y="5742432"/>
            <a:ext cx="2240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rentabilidad esperada del FIP VANTRUST LIQUIDEZ CORTO PLAZO, es la tasa de política monetaria promedio del Banco Central de Chile.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228600" y="6400800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28600" y="64922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Inversionistas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228600" y="66751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Dirigida a empresas y personas que buscan invertir sus excedentes de caja con una rentabilidad de corto plazo y baja tolerancia al riesgo.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Comentario Portafolio Manager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97480" y="429768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521208"/>
            <a:ext cx="4636008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 2 CLP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2697480" y="2212848"/>
            <a:ext cx="4636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Liquidez Corto Plazo</a:t>
            </a:r>
            <a:endParaRPr lang="en-US" sz="800" dirty="0"/>
          </a:p>
        </p:txBody>
      </p:sp>
      <p:graphicFrame>
        <p:nvGraphicFramePr>
          <p:cNvPr id="44" name="Chart 0" descr=""/>
          <p:cNvGraphicFramePr/>
          <p:nvPr/>
        </p:nvGraphicFramePr>
        <p:xfrm>
          <a:off x="2697480" y="2395728"/>
          <a:ext cx="4636008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5" name="Text 42"/>
          <p:cNvSpPr/>
          <p:nvPr/>
        </p:nvSpPr>
        <p:spPr>
          <a:xfrm>
            <a:off x="2697480" y="438912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Rentabilidad</a:t>
            </a:r>
            <a:endParaRPr lang="en-US" sz="13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4663440"/>
          <a:ext cx="4636008" cy="914400"/>
        </p:xfrm>
        <a:graphic>
          <a:graphicData uri="http://schemas.openxmlformats.org/drawingml/2006/table">
            <a:tbl>
              <a:tblPr/>
              <a:tblGrid>
                <a:gridCol w="1325880"/>
                <a:gridCol w="594360"/>
                <a:gridCol w="658368"/>
                <a:gridCol w="658368"/>
                <a:gridCol w="594360"/>
                <a:gridCol w="621792"/>
              </a:tblGrid>
              <a:tr h="1920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Rentabilidad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Trimestral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Semestral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Anual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Acum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 (*)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2,40%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4,26%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1,72%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9202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75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2,34%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33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1,13%</a:t>
                      </a:r>
                      <a:endParaRPr lang="en-US" sz="7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9F9"/>
                    </a:solidFill>
                  </a:tcPr>
                </a:tc>
              </a:tr>
            </a:tbl>
          </a:graphicData>
        </a:graphic>
      </p:graphicFrame>
      <p:sp>
        <p:nvSpPr>
          <p:cNvPr id="47" name="Text 43"/>
          <p:cNvSpPr/>
          <p:nvPr/>
        </p:nvSpPr>
        <p:spPr>
          <a:xfrm>
            <a:off x="2697480" y="5477256"/>
            <a:ext cx="4636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*Valores correspondientes a la rentabilidad anualizada, no acumulada</a:t>
            </a:r>
            <a:endParaRPr lang="en-US" sz="600" dirty="0"/>
          </a:p>
        </p:txBody>
      </p:sp>
      <p:sp>
        <p:nvSpPr>
          <p:cNvPr id="48" name="Shape 44"/>
          <p:cNvSpPr/>
          <p:nvPr/>
        </p:nvSpPr>
        <p:spPr>
          <a:xfrm>
            <a:off x="2697480" y="5660136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97480" y="5724144"/>
          <a:ext cx="4636008" cy="914400"/>
        </p:xfrm>
        <a:graphic>
          <a:graphicData uri="http://schemas.openxmlformats.org/drawingml/2006/table">
            <a:tbl>
              <a:tblPr/>
              <a:tblGrid>
                <a:gridCol w="201168"/>
                <a:gridCol w="749808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283464"/>
                <a:gridCol w="301752"/>
              </a:tblGrid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Fondo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Ene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Feb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Abr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May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Oct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Nov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Dic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Año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2025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0,40%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0,38%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CORTO PLAZO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1,19%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1,21%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ICP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0,73%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0,78%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dirty="0">
                          <a:solidFill>
                            <a:srgbClr val="66666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Competencia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344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58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FIP LIQUIDEZ CORTO PLAZO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1,22%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58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1,17%</a:t>
                      </a: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58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" cap="flat" cmpd="sng" algn="ctr">
                      <a:solidFill>
                        <a:srgbClr val="EEEE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42032" cy="132588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Text 1"/>
          <p:cNvSpPr/>
          <p:nvPr/>
        </p:nvSpPr>
        <p:spPr>
          <a:xfrm>
            <a:off x="182880" y="102412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spc="500" kern="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O N D O</a:t>
            </a:r>
            <a:endParaRPr lang="en-US" sz="700" dirty="0"/>
          </a:p>
        </p:txBody>
      </p:sp>
      <p:sp>
        <p:nvSpPr>
          <p:cNvPr id="4" name="Shape 2"/>
          <p:cNvSpPr/>
          <p:nvPr/>
        </p:nvSpPr>
        <p:spPr>
          <a:xfrm>
            <a:off x="2560320" y="0"/>
            <a:ext cx="0" cy="10689336"/>
          </a:xfrm>
          <a:prstGeom prst="line">
            <a:avLst/>
          </a:prstGeom>
          <a:noFill/>
          <a:ln w="6350">
            <a:solidFill>
              <a:srgbClr val="CC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697480" y="137160"/>
            <a:ext cx="4636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VanTrust Capital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228600" y="1463040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Moneda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28600" y="1664208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175564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508760" y="1755648"/>
            <a:ext cx="960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0,30%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28600" y="2066544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8600" y="2157984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General por Instrumentos Financieros</a:t>
            </a:r>
            <a:endParaRPr lang="en-US" sz="8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2359152"/>
          <a:ext cx="2240280" cy="914400"/>
        </p:xfrm>
        <a:graphic>
          <a:graphicData uri="http://schemas.openxmlformats.org/drawingml/2006/table">
            <a:tbl>
              <a:tblPr/>
              <a:tblGrid>
                <a:gridCol w="1207008"/>
                <a:gridCol w="502920"/>
                <a:gridCol w="530352"/>
              </a:tblGrid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Límites de Inversión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7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Mínimo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Máximo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Bonos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Depósitos a Plazo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Facturas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Financiamientos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(Inmobiliario, Mezzanine, etc.)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Efectos de Comercio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Pagaré Banco Central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7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Caja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</a:t>
                      </a:r>
                      <a:endParaRPr lang="en-US" sz="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228600" y="4123944"/>
            <a:ext cx="2240280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8600" y="4215384"/>
            <a:ext cx="224028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Composición por Duración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8600" y="44439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de 1 mes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645920" y="4443984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228600" y="466344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meses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645920" y="4663440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228600" y="4882896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meses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645920" y="4882896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228600" y="510235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de 4 meses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645920" y="5102352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0,00%</a:t>
            </a:r>
            <a:endParaRPr lang="en-US" sz="800" dirty="0"/>
          </a:p>
        </p:txBody>
      </p:sp>
      <p:sp>
        <p:nvSpPr>
          <p:cNvPr id="23" name="Text 20"/>
          <p:cNvSpPr/>
          <p:nvPr/>
        </p:nvSpPr>
        <p:spPr>
          <a:xfrm>
            <a:off x="2697480" y="137160"/>
            <a:ext cx="4636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Glosario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2697480" y="45720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es el riesgo de una variación adversa en el precio o tasa de mercado en los instrumentos en que invierte el Fondo</a:t>
            </a:r>
            <a:endParaRPr lang="en-US" sz="700" dirty="0"/>
          </a:p>
        </p:txBody>
      </p:sp>
      <p:sp>
        <p:nvSpPr>
          <p:cNvPr id="25" name="Text 22"/>
          <p:cNvSpPr/>
          <p:nvPr/>
        </p:nvSpPr>
        <p:spPr>
          <a:xfrm>
            <a:off x="2697480" y="88696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Crédito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posible pérdida que se asume como consecuencia del incumplimiento de las obligaciones directas, indirectas o de derivados que conllevan al no pago parcial, total o falta de oportunidad del pago de los emisores de los instrumentos en que invierte el Fondo y que pudieran ocasionar una pérdida financiera.</a:t>
            </a:r>
            <a:endParaRPr lang="en-US" sz="700" dirty="0"/>
          </a:p>
        </p:txBody>
      </p:sp>
      <p:sp>
        <p:nvSpPr>
          <p:cNvPr id="26" name="Text 23"/>
          <p:cNvSpPr/>
          <p:nvPr/>
        </p:nvSpPr>
        <p:spPr>
          <a:xfrm>
            <a:off x="2697480" y="131673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Liquidez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asociado a la capacidad de generación de recursos del Fondo para cumplir con sus obligaciones de rescate o vencimiento del mismo.</a:t>
            </a:r>
            <a:endParaRPr lang="en-US" sz="700" dirty="0"/>
          </a:p>
        </p:txBody>
      </p:sp>
      <p:sp>
        <p:nvSpPr>
          <p:cNvPr id="27" name="Text 24"/>
          <p:cNvSpPr/>
          <p:nvPr/>
        </p:nvSpPr>
        <p:spPr>
          <a:xfrm>
            <a:off x="2697480" y="174650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Profundidad de Mercado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 a la posibilidad de comprar o vender un activo financiero al valor de mercado en un período de tiempo acorde a las características del instrumento. Períodos de alta volatilidad de mercado afectan negativamente estos tiempos.</a:t>
            </a:r>
            <a:endParaRPr lang="en-US" sz="700" dirty="0"/>
          </a:p>
        </p:txBody>
      </p:sp>
      <p:sp>
        <p:nvSpPr>
          <p:cNvPr id="28" name="Text 25"/>
          <p:cNvSpPr/>
          <p:nvPr/>
        </p:nvSpPr>
        <p:spPr>
          <a:xfrm>
            <a:off x="2697480" y="2176272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Tasa de interés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a pérdidas ocasionadas por cambios adversos en las tasas de interés de mercado y que afecten el valor de los instrumentos, contratos y demás operaciones registradas en el balance.</a:t>
            </a:r>
            <a:endParaRPr lang="en-US" sz="700" dirty="0"/>
          </a:p>
        </p:txBody>
      </p:sp>
      <p:sp>
        <p:nvSpPr>
          <p:cNvPr id="29" name="Text 26"/>
          <p:cNvSpPr/>
          <p:nvPr/>
        </p:nvSpPr>
        <p:spPr>
          <a:xfrm>
            <a:off x="2697480" y="2606040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Moneda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la exposición a pérdidas ocasionadas por cambios adversos en el valor en moneda nacional de las monedas extranjeras que están expresados a los instrumentos, contratos y demás operaciones del balance del Fondo.</a:t>
            </a:r>
            <a:endParaRPr lang="en-US" sz="700" dirty="0"/>
          </a:p>
        </p:txBody>
      </p:sp>
      <p:sp>
        <p:nvSpPr>
          <p:cNvPr id="30" name="Text 27"/>
          <p:cNvSpPr/>
          <p:nvPr/>
        </p:nvSpPr>
        <p:spPr>
          <a:xfrm>
            <a:off x="2697480" y="3035808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Sectorial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riesgo está asociado a condiciones de mercado adversas que pueden afectar a un sector industrial en particular y por ende la rentabilidad del Fondo.</a:t>
            </a:r>
            <a:endParaRPr lang="en-US" sz="700" dirty="0"/>
          </a:p>
        </p:txBody>
      </p:sp>
      <p:sp>
        <p:nvSpPr>
          <p:cNvPr id="31" name="Text 28"/>
          <p:cNvSpPr/>
          <p:nvPr/>
        </p:nvSpPr>
        <p:spPr>
          <a:xfrm>
            <a:off x="2697480" y="3465576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Gastos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Corresponden a los gastos directos e indirectos necesarios para el correcto funcionamiento del fondo los que están detallados en el Reglamento Interno</a:t>
            </a:r>
            <a:endParaRPr lang="en-US" sz="700" dirty="0"/>
          </a:p>
        </p:txBody>
      </p:sp>
      <p:sp>
        <p:nvSpPr>
          <p:cNvPr id="32" name="Text 29"/>
          <p:cNvSpPr/>
          <p:nvPr/>
        </p:nvSpPr>
        <p:spPr>
          <a:xfrm>
            <a:off x="2697480" y="3895344"/>
            <a:ext cx="46360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00" b="1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de Ingreso y Pago del Fondo</a:t>
            </a:r>
            <a:endParaRPr lang="en-US" sz="700" dirty="0"/>
          </a:p>
          <a:p>
            <a:pPr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moneda en que el inversionista entra al fondo es aportando pesos chilenos, y al rescate de las cuotas, el fondo le entrega pesos chilenos.</a:t>
            </a:r>
            <a:endParaRPr lang="en-US" sz="700" dirty="0"/>
          </a:p>
        </p:txBody>
      </p:sp>
      <p:sp>
        <p:nvSpPr>
          <p:cNvPr id="33" name="Shape 30"/>
          <p:cNvSpPr/>
          <p:nvPr/>
        </p:nvSpPr>
        <p:spPr>
          <a:xfrm>
            <a:off x="2697480" y="4398264"/>
            <a:ext cx="4636008" cy="0"/>
          </a:xfrm>
          <a:prstGeom prst="line">
            <a:avLst/>
          </a:prstGeom>
          <a:noFill/>
          <a:ln w="5080">
            <a:solidFill>
              <a:srgbClr val="CCCCCC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697480" y="4526280"/>
            <a:ext cx="463600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Disclaimer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697480" y="4800600"/>
            <a:ext cx="4636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 a la Ley Única de Fondos, las administradoras de fondos de inversión privados están sujetas a las obligaciones de información establecidas por la Comisión para el Mercado Financiero. Tales fondos no están sometidos a fiscalización de la Comisión y no hacemos oferta pública de sus cuotas.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2026-05-14T22:15:42Z</dcterms:created>
  <dcterms:modified xsi:type="dcterms:W3CDTF">2026-05-14T22:15:42Z</dcterms:modified>
</cp:coreProperties>
</file>