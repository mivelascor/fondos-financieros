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ICP Nom.</c:v>
                </c:pt>
              </c:strCache>
            </c:strRef>
          </c:tx>
          <c:spPr>
            <a:solidFill>
              <a:srgbClr val="999999"/>
            </a:solidFill>
            <a:ln w="15240" cap="flat">
              <a:solidFill>
                <a:srgbClr val="99999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99999"/>
              </a:solidFill>
              <a:ln w="9525" cap="flat">
                <a:solidFill>
                  <a:srgbClr val="99999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Sheet1!$A$2:$A$85</c:f>
              <c:multiLvlStrCache>
                <c:ptCount val="84"/>
                <c:lvl>
                  <c:pt idx="0">
                    <c:v>May 2019</c:v>
                  </c:pt>
                  <c:pt idx="1">
                    <c:v>Jun 2019</c:v>
                  </c:pt>
                  <c:pt idx="2">
                    <c:v>Jul 2019</c:v>
                  </c:pt>
                  <c:pt idx="3">
                    <c:v>Aug 2019</c:v>
                  </c:pt>
                  <c:pt idx="4">
                    <c:v>Sep 2019</c:v>
                  </c:pt>
                  <c:pt idx="5">
                    <c:v>Oct 2019</c:v>
                  </c:pt>
                  <c:pt idx="6">
                    <c:v>Nov 2019</c:v>
                  </c:pt>
                  <c:pt idx="7">
                    <c:v>Dec 2019</c:v>
                  </c:pt>
                  <c:pt idx="8">
                    <c:v>Jan 2020</c:v>
                  </c:pt>
                  <c:pt idx="9">
                    <c:v>Feb 2020</c:v>
                  </c:pt>
                  <c:pt idx="10">
                    <c:v>Mar 2020</c:v>
                  </c:pt>
                  <c:pt idx="11">
                    <c:v>Apr 2020</c:v>
                  </c:pt>
                  <c:pt idx="12">
                    <c:v>May 2020</c:v>
                  </c:pt>
                  <c:pt idx="13">
                    <c:v>Jun 2020</c:v>
                  </c:pt>
                  <c:pt idx="14">
                    <c:v>Jul 2020</c:v>
                  </c:pt>
                  <c:pt idx="15">
                    <c:v>Aug 2020</c:v>
                  </c:pt>
                  <c:pt idx="16">
                    <c:v>Sep 2020</c:v>
                  </c:pt>
                  <c:pt idx="17">
                    <c:v>Oct 2020</c:v>
                  </c:pt>
                  <c:pt idx="18">
                    <c:v>Nov 2020</c:v>
                  </c:pt>
                  <c:pt idx="19">
                    <c:v>Dec 2020</c:v>
                  </c:pt>
                  <c:pt idx="20">
                    <c:v>Jan 2021</c:v>
                  </c:pt>
                  <c:pt idx="21">
                    <c:v>Feb 2021</c:v>
                  </c:pt>
                  <c:pt idx="22">
                    <c:v>Mar 2021</c:v>
                  </c:pt>
                  <c:pt idx="23">
                    <c:v>Apr 2021</c:v>
                  </c:pt>
                  <c:pt idx="24">
                    <c:v>May 2021</c:v>
                  </c:pt>
                  <c:pt idx="25">
                    <c:v>Jun 2021</c:v>
                  </c:pt>
                  <c:pt idx="26">
                    <c:v>Jul 2021</c:v>
                  </c:pt>
                  <c:pt idx="27">
                    <c:v>Aug 2021</c:v>
                  </c:pt>
                  <c:pt idx="28">
                    <c:v>Sep 2021</c:v>
                  </c:pt>
                  <c:pt idx="29">
                    <c:v>Oct 2021</c:v>
                  </c:pt>
                  <c:pt idx="30">
                    <c:v>Nov 2021</c:v>
                  </c:pt>
                  <c:pt idx="31">
                    <c:v>Dec 2021</c:v>
                  </c:pt>
                  <c:pt idx="32">
                    <c:v>Jan 2022</c:v>
                  </c:pt>
                  <c:pt idx="33">
                    <c:v>Feb 2022</c:v>
                  </c:pt>
                  <c:pt idx="34">
                    <c:v>Mar 2022</c:v>
                  </c:pt>
                  <c:pt idx="35">
                    <c:v>Apr 2022</c:v>
                  </c:pt>
                  <c:pt idx="36">
                    <c:v>May 2022</c:v>
                  </c:pt>
                  <c:pt idx="37">
                    <c:v>Jun 2022</c:v>
                  </c:pt>
                  <c:pt idx="38">
                    <c:v>Jul 2022</c:v>
                  </c:pt>
                  <c:pt idx="39">
                    <c:v>Aug 2022</c:v>
                  </c:pt>
                  <c:pt idx="40">
                    <c:v>Sep 2022</c:v>
                  </c:pt>
                  <c:pt idx="41">
                    <c:v>Oct 2022</c:v>
                  </c:pt>
                  <c:pt idx="42">
                    <c:v>Nov 2022</c:v>
                  </c:pt>
                  <c:pt idx="43">
                    <c:v>Dec 2022</c:v>
                  </c:pt>
                  <c:pt idx="44">
                    <c:v>Jan 2023</c:v>
                  </c:pt>
                  <c:pt idx="45">
                    <c:v>Feb 2023</c:v>
                  </c:pt>
                  <c:pt idx="46">
                    <c:v>Mar 2023</c:v>
                  </c:pt>
                  <c:pt idx="47">
                    <c:v>Apr 2023</c:v>
                  </c:pt>
                  <c:pt idx="48">
                    <c:v>May 2023</c:v>
                  </c:pt>
                  <c:pt idx="49">
                    <c:v>Jun 2023</c:v>
                  </c:pt>
                  <c:pt idx="50">
                    <c:v>Jul 2023</c:v>
                  </c:pt>
                  <c:pt idx="51">
                    <c:v>Aug 2023</c:v>
                  </c:pt>
                  <c:pt idx="52">
                    <c:v>Sep 2023</c:v>
                  </c:pt>
                  <c:pt idx="53">
                    <c:v>Oct 2023</c:v>
                  </c:pt>
                  <c:pt idx="54">
                    <c:v>Nov 2023</c:v>
                  </c:pt>
                  <c:pt idx="55">
                    <c:v>Dec 2023</c:v>
                  </c:pt>
                  <c:pt idx="56">
                    <c:v>Jan 2024</c:v>
                  </c:pt>
                  <c:pt idx="57">
                    <c:v>Feb 2024</c:v>
                  </c:pt>
                  <c:pt idx="58">
                    <c:v>Mar 2024</c:v>
                  </c:pt>
                  <c:pt idx="59">
                    <c:v>Apr 2024</c:v>
                  </c:pt>
                  <c:pt idx="60">
                    <c:v>May 2024</c:v>
                  </c:pt>
                  <c:pt idx="61">
                    <c:v>Jun 2024</c:v>
                  </c:pt>
                  <c:pt idx="62">
                    <c:v>Jul 2024</c:v>
                  </c:pt>
                  <c:pt idx="63">
                    <c:v>Aug 2024</c:v>
                  </c:pt>
                  <c:pt idx="64">
                    <c:v>Sep 2024</c:v>
                  </c:pt>
                  <c:pt idx="65">
                    <c:v>Oct 2024</c:v>
                  </c:pt>
                  <c:pt idx="66">
                    <c:v>Nov 2024</c:v>
                  </c:pt>
                  <c:pt idx="67">
                    <c:v>Dec 2024</c:v>
                  </c:pt>
                  <c:pt idx="68">
                    <c:v>Jan 2025</c:v>
                  </c:pt>
                  <c:pt idx="69">
                    <c:v>Feb 2025</c:v>
                  </c:pt>
                  <c:pt idx="70">
                    <c:v>Mar 2025</c:v>
                  </c:pt>
                  <c:pt idx="71">
                    <c:v>Apr 2025</c:v>
                  </c:pt>
                  <c:pt idx="72">
                    <c:v>May 2025</c:v>
                  </c:pt>
                  <c:pt idx="73">
                    <c:v>Jun 2025</c:v>
                  </c:pt>
                  <c:pt idx="74">
                    <c:v>Jul 2025</c:v>
                  </c:pt>
                  <c:pt idx="75">
                    <c:v>Aug 2025</c:v>
                  </c:pt>
                  <c:pt idx="76">
                    <c:v>Sep 2025</c:v>
                  </c:pt>
                  <c:pt idx="77">
                    <c:v>Oct 2025</c:v>
                  </c:pt>
                  <c:pt idx="78">
                    <c:v>Nov 2025</c:v>
                  </c:pt>
                  <c:pt idx="79">
                    <c:v>Dec 2025</c:v>
                  </c:pt>
                  <c:pt idx="80">
                    <c:v>Jan 2026</c:v>
                  </c:pt>
                  <c:pt idx="81">
                    <c:v>Feb 2026</c:v>
                  </c:pt>
                  <c:pt idx="82">
                    <c:v>Mar 2026</c:v>
                  </c:pt>
                  <c:pt idx="83">
                    <c:v>Apr 2026</c:v>
                  </c:pt>
                </c:lvl>
              </c:multiLvlStrCache>
            </c:multiLvlStrRef>
          </c:cat>
          <c:val>
            <c:numRef>
              <c:f>Sheet1!$B$2:$B$85</c:f>
              <c:numCache>
                <c:formatCode>General</c:formatCode>
                <c:ptCount val="84"/>
                <c:pt idx="0">
                  <c:v>100</c:v>
                </c:pt>
                <c:pt idx="1">
                  <c:v>100.22</c:v>
                </c:pt>
                <c:pt idx="2">
                  <c:v>100.44</c:v>
                </c:pt>
                <c:pt idx="3">
                  <c:v>100.65</c:v>
                </c:pt>
                <c:pt idx="4">
                  <c:v>100.83</c:v>
                </c:pt>
                <c:pt idx="5">
                  <c:v>101</c:v>
                </c:pt>
                <c:pt idx="6">
                  <c:v>101.14</c:v>
                </c:pt>
                <c:pt idx="7">
                  <c:v>101.29</c:v>
                </c:pt>
                <c:pt idx="8">
                  <c:v>101.46</c:v>
                </c:pt>
                <c:pt idx="9">
                  <c:v>101.6</c:v>
                </c:pt>
                <c:pt idx="10">
                  <c:v>101.71</c:v>
                </c:pt>
                <c:pt idx="11">
                  <c:v>101.76</c:v>
                </c:pt>
                <c:pt idx="12">
                  <c:v>101.8</c:v>
                </c:pt>
                <c:pt idx="13">
                  <c:v>101.84</c:v>
                </c:pt>
                <c:pt idx="14">
                  <c:v>101.88</c:v>
                </c:pt>
                <c:pt idx="15">
                  <c:v>101.92</c:v>
                </c:pt>
                <c:pt idx="16">
                  <c:v>101.96</c:v>
                </c:pt>
                <c:pt idx="17">
                  <c:v>102</c:v>
                </c:pt>
                <c:pt idx="18">
                  <c:v>102.04</c:v>
                </c:pt>
                <c:pt idx="19">
                  <c:v>102.08</c:v>
                </c:pt>
                <c:pt idx="20">
                  <c:v>102.1</c:v>
                </c:pt>
                <c:pt idx="21">
                  <c:v>102.13</c:v>
                </c:pt>
                <c:pt idx="22">
                  <c:v>102.15</c:v>
                </c:pt>
                <c:pt idx="23">
                  <c:v>102.18</c:v>
                </c:pt>
                <c:pt idx="24">
                  <c:v>102.21</c:v>
                </c:pt>
                <c:pt idx="25">
                  <c:v>102.24</c:v>
                </c:pt>
                <c:pt idx="26">
                  <c:v>102.29</c:v>
                </c:pt>
                <c:pt idx="27">
                  <c:v>102.35</c:v>
                </c:pt>
                <c:pt idx="28">
                  <c:v>102.48</c:v>
                </c:pt>
                <c:pt idx="29">
                  <c:v>102.69</c:v>
                </c:pt>
                <c:pt idx="30">
                  <c:v>102.91</c:v>
                </c:pt>
                <c:pt idx="31">
                  <c:v>103.24</c:v>
                </c:pt>
                <c:pt idx="32">
                  <c:v>103.59</c:v>
                </c:pt>
                <c:pt idx="33">
                  <c:v>104.04</c:v>
                </c:pt>
                <c:pt idx="34">
                  <c:v>104.54</c:v>
                </c:pt>
                <c:pt idx="35">
                  <c:v>105.11</c:v>
                </c:pt>
                <c:pt idx="36">
                  <c:v>105.86</c:v>
                </c:pt>
                <c:pt idx="37">
                  <c:v>106.64</c:v>
                </c:pt>
                <c:pt idx="38">
                  <c:v>107.45</c:v>
                </c:pt>
                <c:pt idx="39">
                  <c:v>108.41</c:v>
                </c:pt>
                <c:pt idx="40">
                  <c:v>109.37</c:v>
                </c:pt>
                <c:pt idx="41">
                  <c:v>110.31</c:v>
                </c:pt>
                <c:pt idx="42">
                  <c:v>111.45</c:v>
                </c:pt>
                <c:pt idx="43">
                  <c:v>112.5</c:v>
                </c:pt>
                <c:pt idx="44">
                  <c:v>113.63</c:v>
                </c:pt>
                <c:pt idx="45">
                  <c:v>114.63</c:v>
                </c:pt>
                <c:pt idx="46">
                  <c:v>115.74</c:v>
                </c:pt>
                <c:pt idx="47">
                  <c:v>116.76</c:v>
                </c:pt>
                <c:pt idx="48">
                  <c:v>117.97</c:v>
                </c:pt>
                <c:pt idx="49">
                  <c:v>119.08</c:v>
                </c:pt>
                <c:pt idx="50">
                  <c:v>120.24</c:v>
                </c:pt>
                <c:pt idx="51">
                  <c:v>121.31</c:v>
                </c:pt>
                <c:pt idx="52">
                  <c:v>122.25</c:v>
                </c:pt>
                <c:pt idx="53">
                  <c:v>123.29</c:v>
                </c:pt>
                <c:pt idx="54">
                  <c:v>124.21</c:v>
                </c:pt>
                <c:pt idx="55">
                  <c:v>125.09</c:v>
                </c:pt>
                <c:pt idx="56">
                  <c:v>126.01</c:v>
                </c:pt>
                <c:pt idx="57">
                  <c:v>126.78</c:v>
                </c:pt>
                <c:pt idx="58">
                  <c:v>127.5</c:v>
                </c:pt>
                <c:pt idx="59">
                  <c:v>128.28</c:v>
                </c:pt>
                <c:pt idx="60">
                  <c:v>128.98</c:v>
                </c:pt>
                <c:pt idx="61">
                  <c:v>129.58</c:v>
                </c:pt>
                <c:pt idx="62">
                  <c:v>130.26</c:v>
                </c:pt>
                <c:pt idx="63">
                  <c:v>130.89</c:v>
                </c:pt>
                <c:pt idx="64">
                  <c:v>131.51</c:v>
                </c:pt>
                <c:pt idx="65">
                  <c:v>132.11</c:v>
                </c:pt>
                <c:pt idx="66">
                  <c:v>132.69</c:v>
                </c:pt>
                <c:pt idx="67">
                  <c:v>133.28</c:v>
                </c:pt>
                <c:pt idx="68">
                  <c:v>133.87</c:v>
                </c:pt>
                <c:pt idx="69">
                  <c:v>134.39</c:v>
                </c:pt>
                <c:pt idx="70">
                  <c:v>134.97</c:v>
                </c:pt>
                <c:pt idx="71">
                  <c:v>135.54</c:v>
                </c:pt>
                <c:pt idx="72">
                  <c:v>136.1</c:v>
                </c:pt>
                <c:pt idx="73">
                  <c:v>136.69</c:v>
                </c:pt>
                <c:pt idx="74">
                  <c:v>137.28</c:v>
                </c:pt>
                <c:pt idx="75">
                  <c:v>137.8</c:v>
                </c:pt>
                <c:pt idx="76">
                  <c:v>138.39</c:v>
                </c:pt>
                <c:pt idx="77">
                  <c:v>138.94</c:v>
                </c:pt>
                <c:pt idx="78">
                  <c:v>139.47</c:v>
                </c:pt>
                <c:pt idx="79">
                  <c:v>140.05</c:v>
                </c:pt>
                <c:pt idx="80">
                  <c:v>140.59</c:v>
                </c:pt>
                <c:pt idx="81">
                  <c:v>141.1</c:v>
                </c:pt>
                <c:pt idx="82">
                  <c:v>141.65</c:v>
                </c:pt>
                <c:pt idx="83">
                  <c:v>142.18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FIP Liquidez Sencillo</c:v>
                </c:pt>
              </c:strCache>
            </c:strRef>
          </c:tx>
          <c:spPr>
            <a:solidFill>
              <a:srgbClr val="000000"/>
            </a:solidFill>
            <a:ln w="15240" cap="flat">
              <a:solidFill>
                <a:srgbClr val="0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Sheet1!$A$2:$A$85</c:f>
              <c:multiLvlStrCache>
                <c:ptCount val="84"/>
                <c:lvl>
                  <c:pt idx="0">
                    <c:v>May 2019</c:v>
                  </c:pt>
                  <c:pt idx="1">
                    <c:v>Jun 2019</c:v>
                  </c:pt>
                  <c:pt idx="2">
                    <c:v>Jul 2019</c:v>
                  </c:pt>
                  <c:pt idx="3">
                    <c:v>Aug 2019</c:v>
                  </c:pt>
                  <c:pt idx="4">
                    <c:v>Sep 2019</c:v>
                  </c:pt>
                  <c:pt idx="5">
                    <c:v>Oct 2019</c:v>
                  </c:pt>
                  <c:pt idx="6">
                    <c:v>Nov 2019</c:v>
                  </c:pt>
                  <c:pt idx="7">
                    <c:v>Dec 2019</c:v>
                  </c:pt>
                  <c:pt idx="8">
                    <c:v>Jan 2020</c:v>
                  </c:pt>
                  <c:pt idx="9">
                    <c:v>Feb 2020</c:v>
                  </c:pt>
                  <c:pt idx="10">
                    <c:v>Mar 2020</c:v>
                  </c:pt>
                  <c:pt idx="11">
                    <c:v>Apr 2020</c:v>
                  </c:pt>
                  <c:pt idx="12">
                    <c:v>May 2020</c:v>
                  </c:pt>
                  <c:pt idx="13">
                    <c:v>Jun 2020</c:v>
                  </c:pt>
                  <c:pt idx="14">
                    <c:v>Jul 2020</c:v>
                  </c:pt>
                  <c:pt idx="15">
                    <c:v>Aug 2020</c:v>
                  </c:pt>
                  <c:pt idx="16">
                    <c:v>Sep 2020</c:v>
                  </c:pt>
                  <c:pt idx="17">
                    <c:v>Oct 2020</c:v>
                  </c:pt>
                  <c:pt idx="18">
                    <c:v>Nov 2020</c:v>
                  </c:pt>
                  <c:pt idx="19">
                    <c:v>Dec 2020</c:v>
                  </c:pt>
                  <c:pt idx="20">
                    <c:v>Jan 2021</c:v>
                  </c:pt>
                  <c:pt idx="21">
                    <c:v>Feb 2021</c:v>
                  </c:pt>
                  <c:pt idx="22">
                    <c:v>Mar 2021</c:v>
                  </c:pt>
                  <c:pt idx="23">
                    <c:v>Apr 2021</c:v>
                  </c:pt>
                  <c:pt idx="24">
                    <c:v>May 2021</c:v>
                  </c:pt>
                  <c:pt idx="25">
                    <c:v>Jun 2021</c:v>
                  </c:pt>
                  <c:pt idx="26">
                    <c:v>Jul 2021</c:v>
                  </c:pt>
                  <c:pt idx="27">
                    <c:v>Aug 2021</c:v>
                  </c:pt>
                  <c:pt idx="28">
                    <c:v>Sep 2021</c:v>
                  </c:pt>
                  <c:pt idx="29">
                    <c:v>Oct 2021</c:v>
                  </c:pt>
                  <c:pt idx="30">
                    <c:v>Nov 2021</c:v>
                  </c:pt>
                  <c:pt idx="31">
                    <c:v>Dec 2021</c:v>
                  </c:pt>
                  <c:pt idx="32">
                    <c:v>Jan 2022</c:v>
                  </c:pt>
                  <c:pt idx="33">
                    <c:v>Feb 2022</c:v>
                  </c:pt>
                  <c:pt idx="34">
                    <c:v>Mar 2022</c:v>
                  </c:pt>
                  <c:pt idx="35">
                    <c:v>Apr 2022</c:v>
                  </c:pt>
                  <c:pt idx="36">
                    <c:v>May 2022</c:v>
                  </c:pt>
                  <c:pt idx="37">
                    <c:v>Jun 2022</c:v>
                  </c:pt>
                  <c:pt idx="38">
                    <c:v>Jul 2022</c:v>
                  </c:pt>
                  <c:pt idx="39">
                    <c:v>Aug 2022</c:v>
                  </c:pt>
                  <c:pt idx="40">
                    <c:v>Sep 2022</c:v>
                  </c:pt>
                  <c:pt idx="41">
                    <c:v>Oct 2022</c:v>
                  </c:pt>
                  <c:pt idx="42">
                    <c:v>Nov 2022</c:v>
                  </c:pt>
                  <c:pt idx="43">
                    <c:v>Dec 2022</c:v>
                  </c:pt>
                  <c:pt idx="44">
                    <c:v>Jan 2023</c:v>
                  </c:pt>
                  <c:pt idx="45">
                    <c:v>Feb 2023</c:v>
                  </c:pt>
                  <c:pt idx="46">
                    <c:v>Mar 2023</c:v>
                  </c:pt>
                  <c:pt idx="47">
                    <c:v>Apr 2023</c:v>
                  </c:pt>
                  <c:pt idx="48">
                    <c:v>May 2023</c:v>
                  </c:pt>
                  <c:pt idx="49">
                    <c:v>Jun 2023</c:v>
                  </c:pt>
                  <c:pt idx="50">
                    <c:v>Jul 2023</c:v>
                  </c:pt>
                  <c:pt idx="51">
                    <c:v>Aug 2023</c:v>
                  </c:pt>
                  <c:pt idx="52">
                    <c:v>Sep 2023</c:v>
                  </c:pt>
                  <c:pt idx="53">
                    <c:v>Oct 2023</c:v>
                  </c:pt>
                  <c:pt idx="54">
                    <c:v>Nov 2023</c:v>
                  </c:pt>
                  <c:pt idx="55">
                    <c:v>Dec 2023</c:v>
                  </c:pt>
                  <c:pt idx="56">
                    <c:v>Jan 2024</c:v>
                  </c:pt>
                  <c:pt idx="57">
                    <c:v>Feb 2024</c:v>
                  </c:pt>
                  <c:pt idx="58">
                    <c:v>Mar 2024</c:v>
                  </c:pt>
                  <c:pt idx="59">
                    <c:v>Apr 2024</c:v>
                  </c:pt>
                  <c:pt idx="60">
                    <c:v>May 2024</c:v>
                  </c:pt>
                  <c:pt idx="61">
                    <c:v>Jun 2024</c:v>
                  </c:pt>
                  <c:pt idx="62">
                    <c:v>Jul 2024</c:v>
                  </c:pt>
                  <c:pt idx="63">
                    <c:v>Aug 2024</c:v>
                  </c:pt>
                  <c:pt idx="64">
                    <c:v>Sep 2024</c:v>
                  </c:pt>
                  <c:pt idx="65">
                    <c:v>Oct 2024</c:v>
                  </c:pt>
                  <c:pt idx="66">
                    <c:v>Nov 2024</c:v>
                  </c:pt>
                  <c:pt idx="67">
                    <c:v>Dec 2024</c:v>
                  </c:pt>
                  <c:pt idx="68">
                    <c:v>Jan 2025</c:v>
                  </c:pt>
                  <c:pt idx="69">
                    <c:v>Feb 2025</c:v>
                  </c:pt>
                  <c:pt idx="70">
                    <c:v>Mar 2025</c:v>
                  </c:pt>
                  <c:pt idx="71">
                    <c:v>Apr 2025</c:v>
                  </c:pt>
                  <c:pt idx="72">
                    <c:v>May 2025</c:v>
                  </c:pt>
                  <c:pt idx="73">
                    <c:v>Jun 2025</c:v>
                  </c:pt>
                  <c:pt idx="74">
                    <c:v>Jul 2025</c:v>
                  </c:pt>
                  <c:pt idx="75">
                    <c:v>Aug 2025</c:v>
                  </c:pt>
                  <c:pt idx="76">
                    <c:v>Sep 2025</c:v>
                  </c:pt>
                  <c:pt idx="77">
                    <c:v>Oct 2025</c:v>
                  </c:pt>
                  <c:pt idx="78">
                    <c:v>Nov 2025</c:v>
                  </c:pt>
                  <c:pt idx="79">
                    <c:v>Dec 2025</c:v>
                  </c:pt>
                  <c:pt idx="80">
                    <c:v>Jan 2026</c:v>
                  </c:pt>
                  <c:pt idx="81">
                    <c:v>Feb 2026</c:v>
                  </c:pt>
                  <c:pt idx="82">
                    <c:v>Mar 2026</c:v>
                  </c:pt>
                  <c:pt idx="83">
                    <c:v>Apr 2026</c:v>
                  </c:pt>
                </c:lvl>
              </c:multiLvlStrCache>
            </c:multiLvlStrRef>
          </c:cat>
          <c:val>
            <c:numRef>
              <c:f>Sheet1!$C$2:$C$85</c:f>
              <c:numCache>
                <c:formatCode>General</c:formatCode>
                <c:ptCount val="84"/>
                <c:pt idx="0">
                  <c:v>100</c:v>
                </c:pt>
                <c:pt idx="1">
                  <c:v>100.19</c:v>
                </c:pt>
                <c:pt idx="2">
                  <c:v>100.42</c:v>
                </c:pt>
                <c:pt idx="3">
                  <c:v>100.64</c:v>
                </c:pt>
                <c:pt idx="4">
                  <c:v>100.81</c:v>
                </c:pt>
                <c:pt idx="5">
                  <c:v>100.96</c:v>
                </c:pt>
                <c:pt idx="6">
                  <c:v>101.11</c:v>
                </c:pt>
                <c:pt idx="7">
                  <c:v>101.26</c:v>
                </c:pt>
                <c:pt idx="8">
                  <c:v>101.4</c:v>
                </c:pt>
                <c:pt idx="9">
                  <c:v>101.52</c:v>
                </c:pt>
                <c:pt idx="10">
                  <c:v>101.64</c:v>
                </c:pt>
                <c:pt idx="11">
                  <c:v>101.75</c:v>
                </c:pt>
                <c:pt idx="12">
                  <c:v>101.87</c:v>
                </c:pt>
                <c:pt idx="13">
                  <c:v>101.96</c:v>
                </c:pt>
                <c:pt idx="14">
                  <c:v>102</c:v>
                </c:pt>
                <c:pt idx="15">
                  <c:v>102.06</c:v>
                </c:pt>
                <c:pt idx="16">
                  <c:v>102.1</c:v>
                </c:pt>
                <c:pt idx="17">
                  <c:v>102.19</c:v>
                </c:pt>
                <c:pt idx="18">
                  <c:v>102.26</c:v>
                </c:pt>
                <c:pt idx="19">
                  <c:v>103.15</c:v>
                </c:pt>
                <c:pt idx="20">
                  <c:v>103.17</c:v>
                </c:pt>
                <c:pt idx="21">
                  <c:v>103.23</c:v>
                </c:pt>
                <c:pt idx="22">
                  <c:v>103.27</c:v>
                </c:pt>
                <c:pt idx="23">
                  <c:v>103.31</c:v>
                </c:pt>
                <c:pt idx="24">
                  <c:v>103.45</c:v>
                </c:pt>
                <c:pt idx="25">
                  <c:v>103.58</c:v>
                </c:pt>
                <c:pt idx="26">
                  <c:v>103.67</c:v>
                </c:pt>
                <c:pt idx="27">
                  <c:v>103.76</c:v>
                </c:pt>
                <c:pt idx="28">
                  <c:v>103.83</c:v>
                </c:pt>
                <c:pt idx="29">
                  <c:v>103.9</c:v>
                </c:pt>
                <c:pt idx="30">
                  <c:v>104.08</c:v>
                </c:pt>
                <c:pt idx="31">
                  <c:v>104.28</c:v>
                </c:pt>
                <c:pt idx="32">
                  <c:v>104.52</c:v>
                </c:pt>
                <c:pt idx="33">
                  <c:v>104.89</c:v>
                </c:pt>
                <c:pt idx="34">
                  <c:v>105.34</c:v>
                </c:pt>
                <c:pt idx="35">
                  <c:v>105.91</c:v>
                </c:pt>
                <c:pt idx="36">
                  <c:v>106.61</c:v>
                </c:pt>
                <c:pt idx="37">
                  <c:v>107.38</c:v>
                </c:pt>
                <c:pt idx="38">
                  <c:v>108.17</c:v>
                </c:pt>
                <c:pt idx="39">
                  <c:v>108.96</c:v>
                </c:pt>
                <c:pt idx="40">
                  <c:v>109.84</c:v>
                </c:pt>
                <c:pt idx="41">
                  <c:v>110.77</c:v>
                </c:pt>
                <c:pt idx="42">
                  <c:v>111.93</c:v>
                </c:pt>
                <c:pt idx="43">
                  <c:v>113.06</c:v>
                </c:pt>
                <c:pt idx="44">
                  <c:v>114.38</c:v>
                </c:pt>
                <c:pt idx="45">
                  <c:v>115.36</c:v>
                </c:pt>
                <c:pt idx="46">
                  <c:v>116.59</c:v>
                </c:pt>
                <c:pt idx="47">
                  <c:v>117.65</c:v>
                </c:pt>
                <c:pt idx="48">
                  <c:v>119.02</c:v>
                </c:pt>
                <c:pt idx="49">
                  <c:v>120.15</c:v>
                </c:pt>
                <c:pt idx="50">
                  <c:v>121.34</c:v>
                </c:pt>
                <c:pt idx="51">
                  <c:v>122.53</c:v>
                </c:pt>
                <c:pt idx="52">
                  <c:v>123.66</c:v>
                </c:pt>
                <c:pt idx="53">
                  <c:v>124.69</c:v>
                </c:pt>
                <c:pt idx="54">
                  <c:v>125.63</c:v>
                </c:pt>
                <c:pt idx="55">
                  <c:v>126.65</c:v>
                </c:pt>
                <c:pt idx="56">
                  <c:v>127.73</c:v>
                </c:pt>
                <c:pt idx="57">
                  <c:v>128.58</c:v>
                </c:pt>
                <c:pt idx="58">
                  <c:v>129.33</c:v>
                </c:pt>
                <c:pt idx="59">
                  <c:v>130.16</c:v>
                </c:pt>
                <c:pt idx="60">
                  <c:v>130.98</c:v>
                </c:pt>
                <c:pt idx="61">
                  <c:v>131.76</c:v>
                </c:pt>
                <c:pt idx="62">
                  <c:v>132.36</c:v>
                </c:pt>
                <c:pt idx="63">
                  <c:v>132.96</c:v>
                </c:pt>
                <c:pt idx="64">
                  <c:v>133.62</c:v>
                </c:pt>
                <c:pt idx="65">
                  <c:v>134.3</c:v>
                </c:pt>
                <c:pt idx="66">
                  <c:v>134.89</c:v>
                </c:pt>
                <c:pt idx="67">
                  <c:v>135.37</c:v>
                </c:pt>
                <c:pt idx="68">
                  <c:v>135.83</c:v>
                </c:pt>
                <c:pt idx="69">
                  <c:v>136.29</c:v>
                </c:pt>
                <c:pt idx="70">
                  <c:v>136.86</c:v>
                </c:pt>
                <c:pt idx="71">
                  <c:v>137.41</c:v>
                </c:pt>
                <c:pt idx="72">
                  <c:v>137.96</c:v>
                </c:pt>
                <c:pt idx="73">
                  <c:v>138.66</c:v>
                </c:pt>
                <c:pt idx="74">
                  <c:v>139.4</c:v>
                </c:pt>
                <c:pt idx="75">
                  <c:v>140.06</c:v>
                </c:pt>
                <c:pt idx="76">
                  <c:v>140.59</c:v>
                </c:pt>
                <c:pt idx="77">
                  <c:v>141.25</c:v>
                </c:pt>
                <c:pt idx="78">
                  <c:v>141.94</c:v>
                </c:pt>
                <c:pt idx="79">
                  <c:v>142.74</c:v>
                </c:pt>
                <c:pt idx="80">
                  <c:v>143.53</c:v>
                </c:pt>
                <c:pt idx="81">
                  <c:v>144.32</c:v>
                </c:pt>
                <c:pt idx="82">
                  <c:v>145.15</c:v>
                </c:pt>
                <c:pt idx="83">
                  <c:v>145.98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Competencia Relevante (*)</c:v>
                </c:pt>
              </c:strCache>
            </c:strRef>
          </c:tx>
          <c:spPr>
            <a:solidFill>
              <a:srgbClr val="555555"/>
            </a:solidFill>
            <a:ln w="15240" cap="flat">
              <a:solidFill>
                <a:srgbClr val="55555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55555"/>
              </a:solidFill>
              <a:ln w="9525" cap="flat">
                <a:solidFill>
                  <a:srgbClr val="55555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Sheet1!$A$2:$A$85</c:f>
              <c:multiLvlStrCache>
                <c:ptCount val="84"/>
                <c:lvl>
                  <c:pt idx="0">
                    <c:v>May 2019</c:v>
                  </c:pt>
                  <c:pt idx="1">
                    <c:v>Jun 2019</c:v>
                  </c:pt>
                  <c:pt idx="2">
                    <c:v>Jul 2019</c:v>
                  </c:pt>
                  <c:pt idx="3">
                    <c:v>Aug 2019</c:v>
                  </c:pt>
                  <c:pt idx="4">
                    <c:v>Sep 2019</c:v>
                  </c:pt>
                  <c:pt idx="5">
                    <c:v>Oct 2019</c:v>
                  </c:pt>
                  <c:pt idx="6">
                    <c:v>Nov 2019</c:v>
                  </c:pt>
                  <c:pt idx="7">
                    <c:v>Dec 2019</c:v>
                  </c:pt>
                  <c:pt idx="8">
                    <c:v>Jan 2020</c:v>
                  </c:pt>
                  <c:pt idx="9">
                    <c:v>Feb 2020</c:v>
                  </c:pt>
                  <c:pt idx="10">
                    <c:v>Mar 2020</c:v>
                  </c:pt>
                  <c:pt idx="11">
                    <c:v>Apr 2020</c:v>
                  </c:pt>
                  <c:pt idx="12">
                    <c:v>May 2020</c:v>
                  </c:pt>
                  <c:pt idx="13">
                    <c:v>Jun 2020</c:v>
                  </c:pt>
                  <c:pt idx="14">
                    <c:v>Jul 2020</c:v>
                  </c:pt>
                  <c:pt idx="15">
                    <c:v>Aug 2020</c:v>
                  </c:pt>
                  <c:pt idx="16">
                    <c:v>Sep 2020</c:v>
                  </c:pt>
                  <c:pt idx="17">
                    <c:v>Oct 2020</c:v>
                  </c:pt>
                  <c:pt idx="18">
                    <c:v>Nov 2020</c:v>
                  </c:pt>
                  <c:pt idx="19">
                    <c:v>Dec 2020</c:v>
                  </c:pt>
                  <c:pt idx="20">
                    <c:v>Jan 2021</c:v>
                  </c:pt>
                  <c:pt idx="21">
                    <c:v>Feb 2021</c:v>
                  </c:pt>
                  <c:pt idx="22">
                    <c:v>Mar 2021</c:v>
                  </c:pt>
                  <c:pt idx="23">
                    <c:v>Apr 2021</c:v>
                  </c:pt>
                  <c:pt idx="24">
                    <c:v>May 2021</c:v>
                  </c:pt>
                  <c:pt idx="25">
                    <c:v>Jun 2021</c:v>
                  </c:pt>
                  <c:pt idx="26">
                    <c:v>Jul 2021</c:v>
                  </c:pt>
                  <c:pt idx="27">
                    <c:v>Aug 2021</c:v>
                  </c:pt>
                  <c:pt idx="28">
                    <c:v>Sep 2021</c:v>
                  </c:pt>
                  <c:pt idx="29">
                    <c:v>Oct 2021</c:v>
                  </c:pt>
                  <c:pt idx="30">
                    <c:v>Nov 2021</c:v>
                  </c:pt>
                  <c:pt idx="31">
                    <c:v>Dec 2021</c:v>
                  </c:pt>
                  <c:pt idx="32">
                    <c:v>Jan 2022</c:v>
                  </c:pt>
                  <c:pt idx="33">
                    <c:v>Feb 2022</c:v>
                  </c:pt>
                  <c:pt idx="34">
                    <c:v>Mar 2022</c:v>
                  </c:pt>
                  <c:pt idx="35">
                    <c:v>Apr 2022</c:v>
                  </c:pt>
                  <c:pt idx="36">
                    <c:v>May 2022</c:v>
                  </c:pt>
                  <c:pt idx="37">
                    <c:v>Jun 2022</c:v>
                  </c:pt>
                  <c:pt idx="38">
                    <c:v>Jul 2022</c:v>
                  </c:pt>
                  <c:pt idx="39">
                    <c:v>Aug 2022</c:v>
                  </c:pt>
                  <c:pt idx="40">
                    <c:v>Sep 2022</c:v>
                  </c:pt>
                  <c:pt idx="41">
                    <c:v>Oct 2022</c:v>
                  </c:pt>
                  <c:pt idx="42">
                    <c:v>Nov 2022</c:v>
                  </c:pt>
                  <c:pt idx="43">
                    <c:v>Dec 2022</c:v>
                  </c:pt>
                  <c:pt idx="44">
                    <c:v>Jan 2023</c:v>
                  </c:pt>
                  <c:pt idx="45">
                    <c:v>Feb 2023</c:v>
                  </c:pt>
                  <c:pt idx="46">
                    <c:v>Mar 2023</c:v>
                  </c:pt>
                  <c:pt idx="47">
                    <c:v>Apr 2023</c:v>
                  </c:pt>
                  <c:pt idx="48">
                    <c:v>May 2023</c:v>
                  </c:pt>
                  <c:pt idx="49">
                    <c:v>Jun 2023</c:v>
                  </c:pt>
                  <c:pt idx="50">
                    <c:v>Jul 2023</c:v>
                  </c:pt>
                  <c:pt idx="51">
                    <c:v>Aug 2023</c:v>
                  </c:pt>
                  <c:pt idx="52">
                    <c:v>Sep 2023</c:v>
                  </c:pt>
                  <c:pt idx="53">
                    <c:v>Oct 2023</c:v>
                  </c:pt>
                  <c:pt idx="54">
                    <c:v>Nov 2023</c:v>
                  </c:pt>
                  <c:pt idx="55">
                    <c:v>Dec 2023</c:v>
                  </c:pt>
                  <c:pt idx="56">
                    <c:v>Jan 2024</c:v>
                  </c:pt>
                  <c:pt idx="57">
                    <c:v>Feb 2024</c:v>
                  </c:pt>
                  <c:pt idx="58">
                    <c:v>Mar 2024</c:v>
                  </c:pt>
                  <c:pt idx="59">
                    <c:v>Apr 2024</c:v>
                  </c:pt>
                  <c:pt idx="60">
                    <c:v>May 2024</c:v>
                  </c:pt>
                  <c:pt idx="61">
                    <c:v>Jun 2024</c:v>
                  </c:pt>
                  <c:pt idx="62">
                    <c:v>Jul 2024</c:v>
                  </c:pt>
                  <c:pt idx="63">
                    <c:v>Aug 2024</c:v>
                  </c:pt>
                  <c:pt idx="64">
                    <c:v>Sep 2024</c:v>
                  </c:pt>
                  <c:pt idx="65">
                    <c:v>Oct 2024</c:v>
                  </c:pt>
                  <c:pt idx="66">
                    <c:v>Nov 2024</c:v>
                  </c:pt>
                  <c:pt idx="67">
                    <c:v>Dec 2024</c:v>
                  </c:pt>
                  <c:pt idx="68">
                    <c:v>Jan 2025</c:v>
                  </c:pt>
                  <c:pt idx="69">
                    <c:v>Feb 2025</c:v>
                  </c:pt>
                  <c:pt idx="70">
                    <c:v>Mar 2025</c:v>
                  </c:pt>
                  <c:pt idx="71">
                    <c:v>Apr 2025</c:v>
                  </c:pt>
                  <c:pt idx="72">
                    <c:v>May 2025</c:v>
                  </c:pt>
                  <c:pt idx="73">
                    <c:v>Jun 2025</c:v>
                  </c:pt>
                  <c:pt idx="74">
                    <c:v>Jul 2025</c:v>
                  </c:pt>
                  <c:pt idx="75">
                    <c:v>Aug 2025</c:v>
                  </c:pt>
                  <c:pt idx="76">
                    <c:v>Sep 2025</c:v>
                  </c:pt>
                  <c:pt idx="77">
                    <c:v>Oct 2025</c:v>
                  </c:pt>
                  <c:pt idx="78">
                    <c:v>Nov 2025</c:v>
                  </c:pt>
                  <c:pt idx="79">
                    <c:v>Dec 2025</c:v>
                  </c:pt>
                  <c:pt idx="80">
                    <c:v>Jan 2026</c:v>
                  </c:pt>
                  <c:pt idx="81">
                    <c:v>Feb 2026</c:v>
                  </c:pt>
                  <c:pt idx="82">
                    <c:v>Mar 2026</c:v>
                  </c:pt>
                  <c:pt idx="83">
                    <c:v>Apr 2026</c:v>
                  </c:pt>
                </c:lvl>
              </c:multiLvlStrCache>
            </c:multiLvlStrRef>
          </c:cat>
          <c:val>
            <c:numRef>
              <c:f>Sheet1!$D$2:$D$85</c:f>
              <c:numCache>
                <c:formatCode>General</c:formatCode>
                <c:ptCount val="84"/>
                <c:pt idx="0">
                  <c:v>100</c:v>
                </c:pt>
                <c:pt idx="1">
                  <c:v>100.12</c:v>
                </c:pt>
                <c:pt idx="2">
                  <c:v>100.22</c:v>
                </c:pt>
                <c:pt idx="3">
                  <c:v>100.32</c:v>
                </c:pt>
                <c:pt idx="4">
                  <c:v>100.43</c:v>
                </c:pt>
                <c:pt idx="5">
                  <c:v>100.49</c:v>
                </c:pt>
                <c:pt idx="6">
                  <c:v>100.56</c:v>
                </c:pt>
                <c:pt idx="7">
                  <c:v>100.62</c:v>
                </c:pt>
                <c:pt idx="8">
                  <c:v>100.68</c:v>
                </c:pt>
                <c:pt idx="9">
                  <c:v>100.72</c:v>
                </c:pt>
                <c:pt idx="10">
                  <c:v>100.82</c:v>
                </c:pt>
                <c:pt idx="11">
                  <c:v>101.04</c:v>
                </c:pt>
                <c:pt idx="12">
                  <c:v>101.07</c:v>
                </c:pt>
                <c:pt idx="13">
                  <c:v>101.08</c:v>
                </c:pt>
                <c:pt idx="14">
                  <c:v>101.09</c:v>
                </c:pt>
                <c:pt idx="15">
                  <c:v>101.1</c:v>
                </c:pt>
                <c:pt idx="16">
                  <c:v>101.11</c:v>
                </c:pt>
                <c:pt idx="17">
                  <c:v>101.12</c:v>
                </c:pt>
                <c:pt idx="18">
                  <c:v>101.12</c:v>
                </c:pt>
                <c:pt idx="19">
                  <c:v>101.13</c:v>
                </c:pt>
                <c:pt idx="20">
                  <c:v>101.13</c:v>
                </c:pt>
                <c:pt idx="21">
                  <c:v>101.14</c:v>
                </c:pt>
                <c:pt idx="22">
                  <c:v>101.15</c:v>
                </c:pt>
                <c:pt idx="23">
                  <c:v>101.15</c:v>
                </c:pt>
                <c:pt idx="24">
                  <c:v>101.16</c:v>
                </c:pt>
                <c:pt idx="25">
                  <c:v>101.16</c:v>
                </c:pt>
                <c:pt idx="26">
                  <c:v>101.17</c:v>
                </c:pt>
                <c:pt idx="27">
                  <c:v>101.18</c:v>
                </c:pt>
                <c:pt idx="28">
                  <c:v>101.16</c:v>
                </c:pt>
                <c:pt idx="29">
                  <c:v>101.27</c:v>
                </c:pt>
                <c:pt idx="30">
                  <c:v>101.4</c:v>
                </c:pt>
                <c:pt idx="31">
                  <c:v>101.58</c:v>
                </c:pt>
                <c:pt idx="32">
                  <c:v>101.84</c:v>
                </c:pt>
                <c:pt idx="33">
                  <c:v>102.18</c:v>
                </c:pt>
                <c:pt idx="34">
                  <c:v>102.57</c:v>
                </c:pt>
                <c:pt idx="35">
                  <c:v>103.03</c:v>
                </c:pt>
                <c:pt idx="36">
                  <c:v>103.6</c:v>
                </c:pt>
                <c:pt idx="37">
                  <c:v>104.21</c:v>
                </c:pt>
                <c:pt idx="38">
                  <c:v>104.89</c:v>
                </c:pt>
                <c:pt idx="39">
                  <c:v>105.63</c:v>
                </c:pt>
                <c:pt idx="40">
                  <c:v>106.4</c:v>
                </c:pt>
                <c:pt idx="41">
                  <c:v>107.17</c:v>
                </c:pt>
                <c:pt idx="42">
                  <c:v>108.11</c:v>
                </c:pt>
                <c:pt idx="43">
                  <c:v>108.97</c:v>
                </c:pt>
                <c:pt idx="44">
                  <c:v>109.89</c:v>
                </c:pt>
                <c:pt idx="45">
                  <c:v>110.7</c:v>
                </c:pt>
                <c:pt idx="46">
                  <c:v>111.61</c:v>
                </c:pt>
                <c:pt idx="47">
                  <c:v>112.44</c:v>
                </c:pt>
                <c:pt idx="48">
                  <c:v>113.43</c:v>
                </c:pt>
                <c:pt idx="49">
                  <c:v>114.34</c:v>
                </c:pt>
                <c:pt idx="50">
                  <c:v>115.28</c:v>
                </c:pt>
                <c:pt idx="51">
                  <c:v>116.15</c:v>
                </c:pt>
                <c:pt idx="52">
                  <c:v>116.94</c:v>
                </c:pt>
                <c:pt idx="53">
                  <c:v>117.72</c:v>
                </c:pt>
                <c:pt idx="54">
                  <c:v>118.45</c:v>
                </c:pt>
                <c:pt idx="55">
                  <c:v>119.17</c:v>
                </c:pt>
                <c:pt idx="56">
                  <c:v>119.87</c:v>
                </c:pt>
                <c:pt idx="57">
                  <c:v>120.48</c:v>
                </c:pt>
                <c:pt idx="58">
                  <c:v>121.02</c:v>
                </c:pt>
                <c:pt idx="59">
                  <c:v>121.59</c:v>
                </c:pt>
                <c:pt idx="60">
                  <c:v>122.1</c:v>
                </c:pt>
                <c:pt idx="61">
                  <c:v>122.54</c:v>
                </c:pt>
                <c:pt idx="62">
                  <c:v>122.99</c:v>
                </c:pt>
                <c:pt idx="63">
                  <c:v>123.43</c:v>
                </c:pt>
                <c:pt idx="64">
                  <c:v>123.85</c:v>
                </c:pt>
                <c:pt idx="65">
                  <c:v>124.27</c:v>
                </c:pt>
                <c:pt idx="66">
                  <c:v>124.67</c:v>
                </c:pt>
                <c:pt idx="67">
                  <c:v>125.07</c:v>
                </c:pt>
                <c:pt idx="68">
                  <c:v>125.45</c:v>
                </c:pt>
                <c:pt idx="69">
                  <c:v>125.8</c:v>
                </c:pt>
                <c:pt idx="70">
                  <c:v>126.18</c:v>
                </c:pt>
                <c:pt idx="71">
                  <c:v>126.56</c:v>
                </c:pt>
                <c:pt idx="72">
                  <c:v>126.95</c:v>
                </c:pt>
                <c:pt idx="73">
                  <c:v>127.33</c:v>
                </c:pt>
                <c:pt idx="74">
                  <c:v>127.71</c:v>
                </c:pt>
                <c:pt idx="75">
                  <c:v>128.09</c:v>
                </c:pt>
                <c:pt idx="76">
                  <c:v>128.44</c:v>
                </c:pt>
                <c:pt idx="77">
                  <c:v>128.81</c:v>
                </c:pt>
                <c:pt idx="78">
                  <c:v>129.17</c:v>
                </c:pt>
                <c:pt idx="79">
                  <c:v>129.54</c:v>
                </c:pt>
                <c:pt idx="80">
                  <c:v>129.89</c:v>
                </c:pt>
                <c:pt idx="81">
                  <c:v>130.21</c:v>
                </c:pt>
                <c:pt idx="82">
                  <c:v>130.56</c:v>
                </c:pt>
                <c:pt idx="83">
                  <c:v>130.9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8"/>
      </c:catAx>
      <c:valAx>
        <c:axId val="2094734552"/>
        <c:scaling>
          <c:orientation val="minMax"/>
          <c:min val="97"/>
        </c:scaling>
        <c:delete val="0"/>
        <c:axPos val="l"/>
        <c:majorGridlines>
          <c:spPr>
            <a:ln w="381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6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50592" cy="17373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" y="164592"/>
            <a:ext cx="22128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Sencillo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" y="1426464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O N D O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2450592" y="0"/>
            <a:ext cx="0" cy="10689336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" y="1828800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General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18872" y="2011680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" y="2075688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Administradora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051560" y="2075688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Vantrust Gestion Patrimonial S.A.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18872" y="2249424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 Fondo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051560" y="2249424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76.933.993-0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18872" y="2423160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Moneda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051560" y="2423160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CLP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118872" y="2596896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Fondo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051560" y="2596896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 de Inversión Privado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118872" y="2770632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Inicio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051560" y="2770632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 2019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18872" y="2944368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051560" y="2944368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Cámara Promedio (ICP)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18872" y="3118104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 Rescatable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051560" y="3118104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18872" y="3291840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Plazo Rescate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1051560" y="3291840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más tardar 15 días corridos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118872" y="3465576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1051560" y="3465576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Mercado- Crédito - Liquidez - Tasa de interés - Derivados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118872" y="373075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Remuneración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1051560" y="3730752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0,75% IVA Incluido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118872" y="3995928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Custodio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1051560" y="3995928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Vantrust Capital C. de Bolsa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118872" y="4169664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8872" y="4261104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18872" y="4443984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8872" y="4507992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Invertir los recursos del fondo en instrumentos de deuda de corto y mediano plazo, en una cartera diversificada, obteniendo una rentabilidad igual o superior al ICP.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118872" y="5212080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8872" y="5303520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Rentabilidad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18872" y="5486400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8872" y="5550408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rentabilidad esperada del Fip Vantrust Liquidez Sencillo, es la tasa de política monetaria promedio del Banco Central de Chile.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118872" y="6208776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8872" y="6300216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Inversionistas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18872" y="6483096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8872" y="6547104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Dirigida a empresas y personas que buscan invertir sus excedentes de caja con una rentabilidad de corto plazo y baja tolerancia al riesgo.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2606040" y="137160"/>
            <a:ext cx="4818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Comentario Portafolio Manager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2606040" y="411480"/>
            <a:ext cx="4818888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606040" y="502920"/>
            <a:ext cx="48188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CLP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606040" y="2240280"/>
            <a:ext cx="4818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 Sencillo</a:t>
            </a:r>
            <a:endParaRPr lang="en-US" sz="750" dirty="0"/>
          </a:p>
        </p:txBody>
      </p:sp>
      <p:graphicFrame>
        <p:nvGraphicFramePr>
          <p:cNvPr id="46" name="Chart 0" descr=""/>
          <p:cNvGraphicFramePr/>
          <p:nvPr/>
        </p:nvGraphicFramePr>
        <p:xfrm>
          <a:off x="2606040" y="2395728"/>
          <a:ext cx="4818888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7" name="Text 44"/>
          <p:cNvSpPr/>
          <p:nvPr/>
        </p:nvSpPr>
        <p:spPr>
          <a:xfrm>
            <a:off x="2606040" y="4242816"/>
            <a:ext cx="4818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Rentabilidad</a:t>
            </a:r>
            <a:endParaRPr lang="en-US" sz="1300" dirty="0"/>
          </a:p>
        </p:txBody>
      </p:sp>
      <p:sp>
        <p:nvSpPr>
          <p:cNvPr id="48" name="Shape 45"/>
          <p:cNvSpPr/>
          <p:nvPr/>
        </p:nvSpPr>
        <p:spPr>
          <a:xfrm>
            <a:off x="2606040" y="4498848"/>
            <a:ext cx="4818888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06040" y="4572000"/>
          <a:ext cx="4818888" cy="914400"/>
        </p:xfrm>
        <a:graphic>
          <a:graphicData uri="http://schemas.openxmlformats.org/drawingml/2006/table">
            <a:tbl>
              <a:tblPr/>
              <a:tblGrid>
                <a:gridCol w="1298448"/>
                <a:gridCol w="566928"/>
                <a:gridCol w="658368"/>
                <a:gridCol w="658368"/>
                <a:gridCol w="566928"/>
                <a:gridCol w="594360"/>
              </a:tblGrid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Rentabilidad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Trimestral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Semestral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Anual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Acum 2026 (*)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 (Benchmark)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1.13%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2.33%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3.39%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1.62%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2.32%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Sencillo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1.71%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3.35%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6.24%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5.12%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  <p:sp>
        <p:nvSpPr>
          <p:cNvPr id="50" name="Text 46"/>
          <p:cNvSpPr/>
          <p:nvPr/>
        </p:nvSpPr>
        <p:spPr>
          <a:xfrm>
            <a:off x="2606040" y="5349240"/>
            <a:ext cx="4818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*Valores correspondientes a la rentabilidad anualizada, no acumulada</a:t>
            </a:r>
            <a:endParaRPr lang="en-US" sz="600" dirty="0"/>
          </a:p>
        </p:txBody>
      </p:sp>
      <p:sp>
        <p:nvSpPr>
          <p:cNvPr id="51" name="Shape 47"/>
          <p:cNvSpPr/>
          <p:nvPr/>
        </p:nvSpPr>
        <p:spPr>
          <a:xfrm>
            <a:off x="2606040" y="5513832"/>
            <a:ext cx="481888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06040" y="5577840"/>
          <a:ext cx="4818888" cy="914400"/>
        </p:xfrm>
        <a:graphic>
          <a:graphicData uri="http://schemas.openxmlformats.org/drawingml/2006/table">
            <a:tbl>
              <a:tblPr/>
              <a:tblGrid>
                <a:gridCol w="201168"/>
                <a:gridCol w="804672"/>
                <a:gridCol w="292608"/>
                <a:gridCol w="292608"/>
                <a:gridCol w="292608"/>
                <a:gridCol w="292608"/>
                <a:gridCol w="292608"/>
                <a:gridCol w="292608"/>
                <a:gridCol w="292608"/>
                <a:gridCol w="292608"/>
                <a:gridCol w="292608"/>
                <a:gridCol w="292608"/>
                <a:gridCol w="292608"/>
                <a:gridCol w="292608"/>
                <a:gridCol w="301752"/>
              </a:tblGrid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Año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Fondo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Abr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Ago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Año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Sencillo</a:t>
                      </a:r>
                      <a:endParaRPr lang="en-US" sz="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Sencillo</a:t>
                      </a:r>
                      <a:endParaRPr lang="en-US" sz="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Sencillo</a:t>
                      </a:r>
                      <a:endParaRPr lang="en-US" sz="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Sencillo</a:t>
                      </a:r>
                      <a:endParaRPr lang="en-US" sz="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Sencillo</a:t>
                      </a:r>
                      <a:endParaRPr lang="en-US" sz="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11.19%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9.36%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Sencillo</a:t>
                      </a:r>
                      <a:endParaRPr lang="en-US" sz="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Sencillo</a:t>
                      </a:r>
                      <a:endParaRPr lang="en-US" sz="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4.61%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Sencillo</a:t>
                      </a:r>
                      <a:endParaRPr lang="en-US" sz="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777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Sencillo</a:t>
                      </a:r>
                      <a:endParaRPr lang="en-US" sz="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5.12%</a:t>
                      </a:r>
                      <a:endParaRPr lang="en-US" sz="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50592" cy="13258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" y="1024128"/>
            <a:ext cx="221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O N D O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2450592" y="0"/>
            <a:ext cx="0" cy="10689336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" y="1463040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por Moneda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18872" y="1645920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" y="1719072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CLP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490472" y="1719072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100,00%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18872" y="1911096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" y="2002536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por Instrumento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18872" y="2185416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" y="2258568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490472" y="2258568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18872" y="2450592"/>
            <a:ext cx="22128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" y="2542032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por Duración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18872" y="2724912"/>
            <a:ext cx="22128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" y="2798064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30 días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490472" y="2798064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59,50%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8872" y="2990088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31 y 90 días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490472" y="2990088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38,91%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8872" y="3182112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91 y 120 días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490472" y="3182112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1,59%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8872" y="3374136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1 y 2 años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490472" y="3374136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0,00%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606040" y="137160"/>
            <a:ext cx="4818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Glosario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606040" y="411480"/>
            <a:ext cx="4818888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06040" y="502920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Mercado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es el riesgo de una variación adversa en el precio o tasa de mercado en los instrumentos en que invierte el Fondo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2606040" y="923544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Crédito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posible pérdida que se asume como consecuencia del incumplimiento de las obligaciones directas, indirectas o de derivados que conllevan al no pago parcial, total o falta de oportunidad del pago de los emisores de los instrumentos en que invierte el Fondo y que pudieran ocasionar una pérdida financiera.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2606040" y="1344168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Liquidez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asociado a la capacidad de generación de recursos del Fondo para cumplir con sus obligaciones de rescate o vencimiento del mismo.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2606040" y="1764792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Profundidad de Mercado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Corresponde a la posibilidad de comprar o vender un activo financiero al valor de mercado en un período de tiempo acorde a las características del instrumento. Períodos de alta volatilidad de mercado afectan negativamente estos tiempos.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606040" y="2185416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Tasa de interés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a pérdidas ocasionadas por cambios adversos en las tasas de interés de mercado y que afecten el valor de los instrumentos, contratos y demás operaciones registradas en el balance.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2606040" y="2606040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Moneda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exposición a pérdidas ocasionadas por cambios adversos en el valor en moneda nacional de las monedas extranjeras que están expresados a los instrumentos, contratos y demás operaciones del balance del Fondo.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606040" y="3026664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Sectorial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riesgo está asociado a condiciones de mercado adversas que pueden afectar a un sector industrial en particular y por ende la rentabilidad del Fondo.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2606040" y="3447288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 del fondo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Corresponden a los gastos directos e indirectos necesarios para el correcto funcionamiento del fondo los que están detallados en el Reglamento Interno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606040" y="3867912"/>
            <a:ext cx="48188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de Ingreso y Pago del Fondo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moneda en que el inversionista entra al fondo es aportando pesos chilenos, y al rescate de las cuotas, el fondo le entrega pesos chilenos.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2606040" y="4361688"/>
            <a:ext cx="481888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06040" y="4489704"/>
            <a:ext cx="4818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2606040" y="4745736"/>
            <a:ext cx="4818888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06040" y="4837176"/>
            <a:ext cx="4818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 a la Ley Única de Fondos, las administradoras de fondos de inversión privados están sujetas a las obligaciones de información establecidas por la Comisión para el Mercado Financiero. Tales fondos no están sometidos a fiscalización de la Comisión y no hacemos oferta pública de sus cuotas.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2026-05-19T11:59:09Z</dcterms:created>
  <dcterms:modified xsi:type="dcterms:W3CDTF">2026-05-19T11:59:09Z</dcterms:modified>
</cp:coreProperties>
</file>