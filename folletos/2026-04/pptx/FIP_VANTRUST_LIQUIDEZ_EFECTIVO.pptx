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8" r:id="rId2"/>
    <p:sldId id="257" r:id="rId3"/>
  </p:sldIdLst>
  <p:sldSz cx="8851900" cy="11858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6EE34-FED3-9153-BB57-FAE40BEF2E88}" v="1" dt="2026-03-03T20:18:10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3"/>
    <p:restoredTop sz="96197"/>
  </p:normalViewPr>
  <p:slideViewPr>
    <p:cSldViewPr snapToGrid="0">
      <p:cViewPr>
        <p:scale>
          <a:sx n="100" d="100"/>
          <a:sy n="100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bezas" userId="S::nicolas.cabezas@vantrust.cl::858cceca-9205-4b14-b063-d9dbf783859e" providerId="AD" clId="Web-{6B86EE34-FED3-9153-BB57-FAE40BEF2E88}"/>
    <pc:docChg chg="modSld">
      <pc:chgData name="Nicolas Cabezas" userId="S::nicolas.cabezas@vantrust.cl::858cceca-9205-4b14-b063-d9dbf783859e" providerId="AD" clId="Web-{6B86EE34-FED3-9153-BB57-FAE40BEF2E88}" dt="2026-03-03T20:18:10.944" v="0"/>
      <pc:docMkLst>
        <pc:docMk/>
      </pc:docMkLst>
      <pc:sldChg chg="delSp">
        <pc:chgData name="Nicolas Cabezas" userId="S::nicolas.cabezas@vantrust.cl::858cceca-9205-4b14-b063-d9dbf783859e" providerId="AD" clId="Web-{6B86EE34-FED3-9153-BB57-FAE40BEF2E88}" dt="2026-03-03T20:18:10.944" v="0"/>
        <pc:sldMkLst>
          <pc:docMk/>
          <pc:sldMk cId="1784530740" sldId="258"/>
        </pc:sldMkLst>
        <pc:graphicFrameChg chg="del">
          <ac:chgData name="Nicolas Cabezas" userId="S::nicolas.cabezas@vantrust.cl::858cceca-9205-4b14-b063-d9dbf783859e" providerId="AD" clId="Web-{6B86EE34-FED3-9153-BB57-FAE40BEF2E88}" dt="2026-03-03T20:18:10.944" v="0"/>
          <ac:graphicFrameMkLst>
            <pc:docMk/>
            <pc:sldMk cId="1784530740" sldId="258"/>
            <ac:graphicFrameMk id="17" creationId="{0F0156AB-F19D-924E-FD68-DFC446F5ED74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893" y="1940754"/>
            <a:ext cx="7524115" cy="4128558"/>
          </a:xfrm>
        </p:spPr>
        <p:txBody>
          <a:bodyPr anchor="b"/>
          <a:lstStyle>
            <a:lvl1pPr algn="ctr"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6488" y="6228524"/>
            <a:ext cx="6638925" cy="2863089"/>
          </a:xfrm>
        </p:spPr>
        <p:txBody>
          <a:bodyPr/>
          <a:lstStyle>
            <a:lvl1pPr marL="0" indent="0" algn="ctr">
              <a:buNone/>
              <a:defRPr sz="2323"/>
            </a:lvl1pPr>
            <a:lvl2pPr marL="442599" indent="0" algn="ctr">
              <a:buNone/>
              <a:defRPr sz="1936"/>
            </a:lvl2pPr>
            <a:lvl3pPr marL="885199" indent="0" algn="ctr">
              <a:buNone/>
              <a:defRPr sz="1743"/>
            </a:lvl3pPr>
            <a:lvl4pPr marL="1327798" indent="0" algn="ctr">
              <a:buNone/>
              <a:defRPr sz="1549"/>
            </a:lvl4pPr>
            <a:lvl5pPr marL="1770397" indent="0" algn="ctr">
              <a:buNone/>
              <a:defRPr sz="1549"/>
            </a:lvl5pPr>
            <a:lvl6pPr marL="2212997" indent="0" algn="ctr">
              <a:buNone/>
              <a:defRPr sz="1549"/>
            </a:lvl6pPr>
            <a:lvl7pPr marL="2655596" indent="0" algn="ctr">
              <a:buNone/>
              <a:defRPr sz="1549"/>
            </a:lvl7pPr>
            <a:lvl8pPr marL="3098195" indent="0" algn="ctr">
              <a:buNone/>
              <a:defRPr sz="1549"/>
            </a:lvl8pPr>
            <a:lvl9pPr marL="3540795" indent="0" algn="ctr">
              <a:buNone/>
              <a:defRPr sz="1549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724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1608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60" y="2956426"/>
            <a:ext cx="7634764" cy="4932857"/>
          </a:xfrm>
        </p:spPr>
        <p:txBody>
          <a:bodyPr anchor="b"/>
          <a:lstStyle>
            <a:lvl1pPr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960" y="7935951"/>
            <a:ext cx="7634764" cy="2594073"/>
          </a:xfrm>
        </p:spPr>
        <p:txBody>
          <a:bodyPr/>
          <a:lstStyle>
            <a:lvl1pPr marL="0" indent="0">
              <a:buNone/>
              <a:defRPr sz="2323">
                <a:solidFill>
                  <a:schemeClr val="tx1"/>
                </a:solidFill>
              </a:defRPr>
            </a:lvl1pPr>
            <a:lvl2pPr marL="442599" indent="0">
              <a:buNone/>
              <a:defRPr sz="1936">
                <a:solidFill>
                  <a:schemeClr val="tx1">
                    <a:tint val="75000"/>
                  </a:schemeClr>
                </a:solidFill>
              </a:defRPr>
            </a:lvl2pPr>
            <a:lvl3pPr marL="885199" indent="0">
              <a:buNone/>
              <a:defRPr sz="1743">
                <a:solidFill>
                  <a:schemeClr val="tx1">
                    <a:tint val="75000"/>
                  </a:schemeClr>
                </a:solidFill>
              </a:defRPr>
            </a:lvl3pPr>
            <a:lvl4pPr marL="1327798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4pPr>
            <a:lvl5pPr marL="17703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5pPr>
            <a:lvl6pPr marL="22129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6pPr>
            <a:lvl7pPr marL="2655596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7pPr>
            <a:lvl8pPr marL="30981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8pPr>
            <a:lvl9pPr marL="35407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568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1275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506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631366"/>
            <a:ext cx="7634764" cy="22921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23" y="2907012"/>
            <a:ext cx="3744768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23" y="4331692"/>
            <a:ext cx="3744768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1275" y="2907012"/>
            <a:ext cx="3763210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81275" y="4331692"/>
            <a:ext cx="3763210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20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5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242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3210" y="1707426"/>
            <a:ext cx="4481275" cy="8427310"/>
          </a:xfrm>
        </p:spPr>
        <p:txBody>
          <a:bodyPr/>
          <a:lstStyle>
            <a:lvl1pPr>
              <a:defRPr sz="3098"/>
            </a:lvl1pPr>
            <a:lvl2pPr>
              <a:defRPr sz="2711"/>
            </a:lvl2pPr>
            <a:lvl3pPr>
              <a:defRPr sz="2323"/>
            </a:lvl3pPr>
            <a:lvl4pPr>
              <a:defRPr sz="1936"/>
            </a:lvl4pPr>
            <a:lvl5pPr>
              <a:defRPr sz="1936"/>
            </a:lvl5pPr>
            <a:lvl6pPr>
              <a:defRPr sz="1936"/>
            </a:lvl6pPr>
            <a:lvl7pPr>
              <a:defRPr sz="1936"/>
            </a:lvl7pPr>
            <a:lvl8pPr>
              <a:defRPr sz="1936"/>
            </a:lvl8pPr>
            <a:lvl9pPr>
              <a:defRPr sz="1936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586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63210" y="1707426"/>
            <a:ext cx="4481275" cy="8427310"/>
          </a:xfrm>
        </p:spPr>
        <p:txBody>
          <a:bodyPr anchor="t"/>
          <a:lstStyle>
            <a:lvl1pPr marL="0" indent="0">
              <a:buNone/>
              <a:defRPr sz="3098"/>
            </a:lvl1pPr>
            <a:lvl2pPr marL="442599" indent="0">
              <a:buNone/>
              <a:defRPr sz="2711"/>
            </a:lvl2pPr>
            <a:lvl3pPr marL="885199" indent="0">
              <a:buNone/>
              <a:defRPr sz="2323"/>
            </a:lvl3pPr>
            <a:lvl4pPr marL="1327798" indent="0">
              <a:buNone/>
              <a:defRPr sz="1936"/>
            </a:lvl4pPr>
            <a:lvl5pPr marL="1770397" indent="0">
              <a:buNone/>
              <a:defRPr sz="1936"/>
            </a:lvl5pPr>
            <a:lvl6pPr marL="2212997" indent="0">
              <a:buNone/>
              <a:defRPr sz="1936"/>
            </a:lvl6pPr>
            <a:lvl7pPr marL="2655596" indent="0">
              <a:buNone/>
              <a:defRPr sz="1936"/>
            </a:lvl7pPr>
            <a:lvl8pPr marL="3098195" indent="0">
              <a:buNone/>
              <a:defRPr sz="1936"/>
            </a:lvl8pPr>
            <a:lvl9pPr marL="3540795" indent="0">
              <a:buNone/>
              <a:defRPr sz="1936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56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231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34641" y="631363"/>
            <a:ext cx="1908691" cy="10049636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569" y="631363"/>
            <a:ext cx="5615424" cy="10049636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94036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569" y="631366"/>
            <a:ext cx="7634764" cy="229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569" y="3156811"/>
            <a:ext cx="7634764" cy="7524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568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2194" y="10991192"/>
            <a:ext cx="2987516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51655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217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85199" rtl="0" eaLnBrk="1" latinLnBrk="0" hangingPunct="1">
        <a:lnSpc>
          <a:spcPct val="90000"/>
        </a:lnSpc>
        <a:spcBef>
          <a:spcPct val="0"/>
        </a:spcBef>
        <a:buNone/>
        <a:defRPr sz="42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300" indent="-221300" algn="l" defTabSz="885199" rtl="0" eaLnBrk="1" latinLnBrk="0" hangingPunct="1">
        <a:lnSpc>
          <a:spcPct val="90000"/>
        </a:lnSpc>
        <a:spcBef>
          <a:spcPts val="968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1pPr>
      <a:lvl2pPr marL="663899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2323" kern="1200">
          <a:solidFill>
            <a:schemeClr val="tx1"/>
          </a:solidFill>
          <a:latin typeface="+mn-lt"/>
          <a:ea typeface="+mn-ea"/>
          <a:cs typeface="+mn-cs"/>
        </a:defRPr>
      </a:lvl2pPr>
      <a:lvl3pPr marL="11064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936" kern="1200">
          <a:solidFill>
            <a:schemeClr val="tx1"/>
          </a:solidFill>
          <a:latin typeface="+mn-lt"/>
          <a:ea typeface="+mn-ea"/>
          <a:cs typeface="+mn-cs"/>
        </a:defRPr>
      </a:lvl3pPr>
      <a:lvl4pPr marL="15490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991697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4342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8768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319495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762094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1pPr>
      <a:lvl2pPr marL="4425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2pPr>
      <a:lvl3pPr marL="8851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3pPr>
      <a:lvl4pPr marL="1327798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7703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2129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655596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0981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5407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oleObject" Target="file:///\\192.168.1.209\Areas_Datos_Compartidos\Carpeta%20Renta%20Fija\Fondos\TEMPLATE%20FONDOS\EXCELS\TEMPLATE%20FONDO%20ALTO%20APORTE.xlsx!Comentario!F2C1:F4C1" TargetMode="External"/><Relationship Id="rId3" Type="http://schemas.openxmlformats.org/officeDocument/2006/relationships/image" Target="../media/image1.emf"/><Relationship Id="rId4" Type="http://schemas.openxmlformats.org/officeDocument/2006/relationships/oleObject" Target="file:///\\192.168.1.209\Areas_Datos_Compartidos\Carpeta%20Renta%20Fija\Fondos\TEMPLATE%20FONDOS\EXCELS\TEMPLATE%20FONDO%20ALTO%20APORTE.xlsx!Datos%20ICP%20(2)!%5bTEMPLATE%20FONDO%20ALTO%20APORTE.xlsx%5dDatos%20ICP%20(2)%2034%20Gr&#225;fico" TargetMode="External"/><Relationship Id="rId5" Type="http://schemas.openxmlformats.org/officeDocument/2006/relationships/image" Target="../media/image2.emf"/><Relationship Id="rId6" Type="http://schemas.openxmlformats.org/officeDocument/2006/relationships/image" Target="../media/image3.emf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oleObject" Target="file:///\\192.168.1.209\Areas_Datos_Compartidos\Carpeta%20Renta%20Fija\Fondos\TEMPLATE%20FONDOS\EXCELS\TEMPLATE%20FONDO%20ALTO%20APORTE.xlsx!composici&#243;n!F3C11:F7C12" TargetMode="External"/><Relationship Id="rId4" Type="http://schemas.openxmlformats.org/officeDocument/2006/relationships/image" Target="../media/image5.emf"/><Relationship Id="rId5" Type="http://schemas.openxmlformats.org/officeDocument/2006/relationships/oleObject" Target="file:///\\192.168.1.209\Areas_Datos_Compartidos\Carpeta%20Renta%20Fija\Fondos\TEMPLATE%20FONDOS\EXCELS\TEMPLATE%20FONDO%20ALTO%20APORTE.xlsx!composici&#243;n!F3C19:F4C20" TargetMode="External"/><Relationship Id="rId6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25C1F43-EED3-8D06-6A11-474DFFAEEC24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92F090-C318-A5C7-9D42-99E0C187BD76}"/>
              </a:ext>
            </a:extLst>
          </p:cNvPr>
          <p:cNvSpPr txBox="1"/>
          <p:nvPr/>
        </p:nvSpPr>
        <p:spPr>
          <a:xfrm>
            <a:off x="188129" y="1309253"/>
            <a:ext cx="3193498" cy="93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>LIQUIDEZ EFECTIVO</a:t>
            </a:r>
          </a:p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/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FD8003-A37A-3240-D858-359FF5BCC3F9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FONDO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7D0AF8-4F52-2E54-885C-676912163962}"/>
              </a:ext>
            </a:extLst>
          </p:cNvPr>
          <p:cNvCxnSpPr>
            <a:cxnSpLocks/>
          </p:cNvCxnSpPr>
          <p:nvPr/>
        </p:nvCxnSpPr>
        <p:spPr>
          <a:xfrm>
            <a:off x="307690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1AAE09A-8F0A-1FF3-4AB4-5B9B11318669}"/>
              </a:ext>
            </a:extLst>
          </p:cNvPr>
          <p:cNvSpPr txBox="1"/>
          <p:nvPr/>
        </p:nvSpPr>
        <p:spPr>
          <a:xfrm>
            <a:off x="3717452" y="1088123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prueba CLP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E46B54-9D73-638A-D7EF-CD6D04523D9C}"/>
              </a:ext>
            </a:extLst>
          </p:cNvPr>
          <p:cNvSpPr txBox="1"/>
          <p:nvPr/>
        </p:nvSpPr>
        <p:spPr>
          <a:xfrm>
            <a:off x="188129" y="3022662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Información General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574DF2-15B5-5B83-FAFB-C0B0A3B6CBDD}"/>
              </a:ext>
            </a:extLst>
          </p:cNvPr>
          <p:cNvSpPr txBox="1"/>
          <p:nvPr/>
        </p:nvSpPr>
        <p:spPr>
          <a:xfrm>
            <a:off x="3717452" y="6162794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Evolución Rentabilidad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01EE872-9639-346C-8605-6FAABA62C21B}"/>
              </a:ext>
            </a:extLst>
          </p:cNvPr>
          <p:cNvCxnSpPr>
            <a:cxnSpLocks/>
          </p:cNvCxnSpPr>
          <p:nvPr/>
        </p:nvCxnSpPr>
        <p:spPr>
          <a:xfrm>
            <a:off x="307690" y="66743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58F6858-997C-4F4B-459C-0C00E5AFF00C}"/>
              </a:ext>
            </a:extLst>
          </p:cNvPr>
          <p:cNvSpPr txBox="1"/>
          <p:nvPr/>
        </p:nvSpPr>
        <p:spPr>
          <a:xfrm>
            <a:off x="188129" y="7024501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Objetivo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3AFA18-A9F2-69EE-ECB6-CC6A2B7EDCC1}"/>
              </a:ext>
            </a:extLst>
          </p:cNvPr>
          <p:cNvCxnSpPr>
            <a:cxnSpLocks/>
          </p:cNvCxnSpPr>
          <p:nvPr/>
        </p:nvCxnSpPr>
        <p:spPr>
          <a:xfrm>
            <a:off x="307690" y="8466334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B32C2-522D-532B-6D3A-ACACD610C613}"/>
              </a:ext>
            </a:extLst>
          </p:cNvPr>
          <p:cNvSpPr txBox="1"/>
          <p:nvPr/>
        </p:nvSpPr>
        <p:spPr>
          <a:xfrm>
            <a:off x="188129" y="8746755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Rentabilidad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424EAD7-4979-F678-31A6-9CF82FC7FDD2}"/>
              </a:ext>
            </a:extLst>
          </p:cNvPr>
          <p:cNvSpPr txBox="1"/>
          <p:nvPr/>
        </p:nvSpPr>
        <p:spPr>
          <a:xfrm>
            <a:off x="173529" y="7426104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Invertir los recursos del fondo en instrumentos de deuda de corto y mediano plazo, en una cartera diversificada, obteniendo una rentabilidad igual o superior al ICP.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3ADE17-F366-2E3A-9AAD-689DCA7B6139}"/>
              </a:ext>
            </a:extLst>
          </p:cNvPr>
          <p:cNvSpPr txBox="1"/>
          <p:nvPr/>
        </p:nvSpPr>
        <p:spPr>
          <a:xfrm>
            <a:off x="173529" y="9202663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La rentabilidad esperada del Fondo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Alto Aporte, es la tasa de política monetaria promedio del Banco Central de Chile.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5AD5301-48A8-F376-0C1F-F3F89DCDBD9E}"/>
              </a:ext>
            </a:extLst>
          </p:cNvPr>
          <p:cNvCxnSpPr>
            <a:cxnSpLocks/>
          </p:cNvCxnSpPr>
          <p:nvPr/>
        </p:nvCxnSpPr>
        <p:spPr>
          <a:xfrm>
            <a:off x="307690" y="10109672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CC8F409-C3AD-B273-76DB-6BC7DECA336F}"/>
              </a:ext>
            </a:extLst>
          </p:cNvPr>
          <p:cNvSpPr txBox="1"/>
          <p:nvPr/>
        </p:nvSpPr>
        <p:spPr>
          <a:xfrm>
            <a:off x="188129" y="10390093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Inversionistas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2C489F-7E32-2DE3-1285-87413E5A4734}"/>
              </a:ext>
            </a:extLst>
          </p:cNvPr>
          <p:cNvSpPr txBox="1"/>
          <p:nvPr/>
        </p:nvSpPr>
        <p:spPr>
          <a:xfrm>
            <a:off x="173529" y="10846001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Dirigida a empresas y personas que buscan invertir sus excedentes de caja con una rentabilidad de corto plazo y baja tolerancia al riesgo.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FF92E74-DA61-E75F-A38B-54F5359DCC07}"/>
              </a:ext>
            </a:extLst>
          </p:cNvPr>
          <p:cNvSpPr txBox="1"/>
          <p:nvPr/>
        </p:nvSpPr>
        <p:spPr>
          <a:xfrm>
            <a:off x="196763" y="3524690"/>
            <a:ext cx="2870375" cy="302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Administradora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RUT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Moneda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Tipo de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Fecha Inicio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Benchmark</a:t>
            </a: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Rescatable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Plazo Rescate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Riesgos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Remuneración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Custodio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b="1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Mínimo de Inversión Inicial: $300.000.000 .-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BB94755-8987-0E74-F8A0-9C8A41125E05}"/>
              </a:ext>
            </a:extLst>
          </p:cNvPr>
          <p:cNvSpPr txBox="1"/>
          <p:nvPr/>
        </p:nvSpPr>
        <p:spPr>
          <a:xfrm>
            <a:off x="1375723" y="3524690"/>
            <a:ext cx="2005904" cy="247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 Gestion Patrimonial S.A.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Gestion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Patrimonial S.A. 77.270.966-8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76,637,334-8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CLP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de Inversión Privado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July 2025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Índice Cámara Promedio (ICP)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Sí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 más tardar 15 días corridos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0,1785% IVA Incluido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Capital C. de Bolsa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6F5638A7-23C2-BE95-F9B8-1E0EA82E8137}"/>
              </a:ext>
            </a:extLst>
          </p:cNvPr>
          <p:cNvCxnSpPr>
            <a:cxnSpLocks/>
          </p:cNvCxnSpPr>
          <p:nvPr/>
        </p:nvCxnSpPr>
        <p:spPr>
          <a:xfrm flipV="1">
            <a:off x="3830320" y="8316870"/>
            <a:ext cx="4607990" cy="11285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1D5E1689-A4B5-60DB-3125-15703FF8D0AC}"/>
              </a:ext>
            </a:extLst>
          </p:cNvPr>
          <p:cNvCxnSpPr>
            <a:cxnSpLocks/>
          </p:cNvCxnSpPr>
          <p:nvPr/>
        </p:nvCxnSpPr>
        <p:spPr>
          <a:xfrm>
            <a:off x="3830320" y="11500207"/>
            <a:ext cx="4568416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4179553-6C4B-1F1B-A19E-EE3A684812AD}"/>
              </a:ext>
            </a:extLst>
          </p:cNvPr>
          <p:cNvSpPr txBox="1"/>
          <p:nvPr/>
        </p:nvSpPr>
        <p:spPr>
          <a:xfrm>
            <a:off x="3721117" y="8005106"/>
            <a:ext cx="4679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solidFill>
                  <a:schemeClr val="bg2">
                    <a:lumMod val="50000"/>
                  </a:schemeClr>
                </a:solidFill>
                <a:latin typeface="Be Vietnam Pro ExtraLight" pitchFamily="2" charset="77"/>
                <a:ea typeface="Calibri" panose="020F0502020204030204" pitchFamily="34" charset="0"/>
              </a:rPr>
              <a:t>*Valores correspondientes a la rentabilidad anualizada, no acumulada</a:t>
            </a:r>
          </a:p>
        </p:txBody>
      </p:sp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0E710717-E7D2-88EB-4D65-6D9178587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442303"/>
              </p:ext>
            </p:extLst>
          </p:nvPr>
        </p:nvGraphicFramePr>
        <p:xfrm>
          <a:off x="3886200" y="1524000"/>
          <a:ext cx="430530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305405" imgH="2067110" progId="Excel.Sheet.12">
                  <p:link updateAutomatic="1"/>
                </p:oleObj>
              </mc:Choice>
              <mc:Fallback>
                <p:oleObj name="Worksheet" r:id="rId2" imgW="4305405" imgH="2067110" progId="Excel.Sheet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0E710717-E7D2-88EB-4D65-6D91785879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86200" y="1524000"/>
                        <a:ext cx="4305300" cy="206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69C5A6DA-8D09-832F-FE36-0FBE90360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783450"/>
              </p:ext>
            </p:extLst>
          </p:nvPr>
        </p:nvGraphicFramePr>
        <p:xfrm>
          <a:off x="3894138" y="3490913"/>
          <a:ext cx="4292600" cy="274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410261" imgH="4447943" progId="Excel.Sheet.12">
                  <p:link updateAutomatic="1"/>
                </p:oleObj>
              </mc:Choice>
              <mc:Fallback>
                <p:oleObj name="Worksheet" r:id="rId4" imgW="6410261" imgH="44479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94138" y="3490913"/>
                        <a:ext cx="4292600" cy="2744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97836E50-891E-9C36-FEC2-DEB2BEB17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142" y="6612030"/>
            <a:ext cx="5201354" cy="720458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590" y="1462653"/>
            <a:ext cx="4743450" cy="1533525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6246" y="3174018"/>
            <a:ext cx="4656137" cy="2860675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283" y="6762063"/>
            <a:ext cx="4267200" cy="885825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6035" y="8713003"/>
            <a:ext cx="5042553" cy="189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3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F2FEB0CE-D207-2AD9-E87C-6E5DAD909032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012250-FD59-CD5A-7F7F-7F110F397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699" b="8009"/>
          <a:stretch/>
        </p:blipFill>
        <p:spPr>
          <a:xfrm>
            <a:off x="-25400" y="0"/>
            <a:ext cx="8851900" cy="108471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84BD69A-9BB5-F8BC-6E12-7613D5A2802C}"/>
              </a:ext>
            </a:extLst>
          </p:cNvPr>
          <p:cNvSpPr txBox="1"/>
          <p:nvPr/>
        </p:nvSpPr>
        <p:spPr>
          <a:xfrm>
            <a:off x="295703" y="3040950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Moneda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735BFFA-DA7F-982D-6A6F-697DC6BDFC7F}"/>
              </a:ext>
            </a:extLst>
          </p:cNvPr>
          <p:cNvCxnSpPr>
            <a:cxnSpLocks/>
          </p:cNvCxnSpPr>
          <p:nvPr/>
        </p:nvCxnSpPr>
        <p:spPr>
          <a:xfrm>
            <a:off x="295703" y="4547568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AC4F03D-3D79-B951-9C58-BB8651AE4F19}"/>
              </a:ext>
            </a:extLst>
          </p:cNvPr>
          <p:cNvSpPr txBox="1"/>
          <p:nvPr/>
        </p:nvSpPr>
        <p:spPr>
          <a:xfrm>
            <a:off x="295703" y="4797082"/>
            <a:ext cx="3169190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General por Instrumentos Financieros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A7238F-E87F-22BA-820C-D7DEBC4E1EBA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LIQUIDEZ EFECTIVO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F4BD1EF-C6D4-5979-43FF-CC01A2EBE4E0}"/>
              </a:ext>
            </a:extLst>
          </p:cNvPr>
          <p:cNvCxnSpPr>
            <a:cxnSpLocks/>
          </p:cNvCxnSpPr>
          <p:nvPr/>
        </p:nvCxnSpPr>
        <p:spPr>
          <a:xfrm>
            <a:off x="295703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97D21AC-D803-922C-165A-3DDD23FE0B13}"/>
              </a:ext>
            </a:extLst>
          </p:cNvPr>
          <p:cNvCxnSpPr>
            <a:cxnSpLocks/>
          </p:cNvCxnSpPr>
          <p:nvPr/>
        </p:nvCxnSpPr>
        <p:spPr>
          <a:xfrm>
            <a:off x="295703" y="81366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93A9C6-AB07-A70C-7B27-8BB52590CE56}"/>
              </a:ext>
            </a:extLst>
          </p:cNvPr>
          <p:cNvSpPr txBox="1"/>
          <p:nvPr/>
        </p:nvSpPr>
        <p:spPr>
          <a:xfrm>
            <a:off x="295703" y="8623215"/>
            <a:ext cx="3169190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Duración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947EA3-3FDE-5AAA-82D0-B3A46DD180F4}"/>
              </a:ext>
            </a:extLst>
          </p:cNvPr>
          <p:cNvSpPr txBox="1"/>
          <p:nvPr/>
        </p:nvSpPr>
        <p:spPr>
          <a:xfrm>
            <a:off x="3871227" y="1538819"/>
            <a:ext cx="4295734" cy="40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Glosario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282681-A294-7026-1D34-B26EF906E9CA}"/>
              </a:ext>
            </a:extLst>
          </p:cNvPr>
          <p:cNvSpPr txBox="1"/>
          <p:nvPr/>
        </p:nvSpPr>
        <p:spPr>
          <a:xfrm>
            <a:off x="3864678" y="2369926"/>
            <a:ext cx="467953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es el riesgo de una variación adversa en el precio o tasa de mercado en los instrumentos en que invierte el Fondo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Crédito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Liquidez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Riesgo asociado a la capacidad de generación de recursos del Fondo para cumplir con sus obligaciones de rescate o vencimiento del mismo.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Profundidad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 a la posibilidad de comprar o vender un activo financiero al valor de mercado en un período de tiempo acorde a las características del instrumento.  Períodos de alta volatilidad de mercado afectan negativamente estos tiempos.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Tasa de interés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Exposición a pérdidas ocasionadas por cambios adversos en las tasas de interés de mercado y que afecten el valor de los instrumentos, contratos y demás operaciones registradas en el balance.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Moneda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Sectorial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riesgo está asociado a condiciones de mercado adversas que pueden afectar a un sector industrial en particular y por ende la rentabilidad del Fondo.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b="1" spc="-34" dirty="0">
                <a:latin typeface="Be Vietnam Pro SemiBold" pitchFamily="2" charset="77"/>
                <a:ea typeface="Calibri" panose="020F0502020204030204" pitchFamily="34" charset="0"/>
              </a:rPr>
              <a:t>Gastos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Corresponden a los gastos directos e indirectos necesarios para el correcto funcionamiento del fondo los que están detallados en el Reglamento Interno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Forma de Ingreso y Pago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La moneda en que el inversionista entra al fondo es aportando pesos chilenos, y al rescate de las cuotas, el fondo le entrega pesos chilenos.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9892A1E-3043-D050-8CBB-C2FC44B74FAF}"/>
              </a:ext>
            </a:extLst>
          </p:cNvPr>
          <p:cNvSpPr txBox="1"/>
          <p:nvPr/>
        </p:nvSpPr>
        <p:spPr>
          <a:xfrm>
            <a:off x="3862593" y="9682062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 err="1">
                <a:latin typeface="Be Vietnam Pro SemiBold" pitchFamily="2" charset="77"/>
              </a:rPr>
              <a:t>Disclaimer</a:t>
            </a:r>
            <a:endParaRPr lang="es-CL" sz="2050" b="1" spc="-114" dirty="0">
              <a:latin typeface="Be Vietnam Pro SemiBold" pitchFamily="2" charset="77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E971C69-BE03-41D1-9CD7-A383295D6CB8}"/>
              </a:ext>
            </a:extLst>
          </p:cNvPr>
          <p:cNvSpPr txBox="1"/>
          <p:nvPr/>
        </p:nvSpPr>
        <p:spPr>
          <a:xfrm>
            <a:off x="3871227" y="10281168"/>
            <a:ext cx="46795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8B00ABB-6200-9B62-C0A4-5B6E48D68C8A}"/>
              </a:ext>
            </a:extLst>
          </p:cNvPr>
          <p:cNvCxnSpPr>
            <a:cxnSpLocks/>
          </p:cNvCxnSpPr>
          <p:nvPr/>
        </p:nvCxnSpPr>
        <p:spPr>
          <a:xfrm>
            <a:off x="3995808" y="9387232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0AAA41E-2FD4-26E5-8751-D6AD7A2EB516}"/>
              </a:ext>
            </a:extLst>
          </p:cNvPr>
          <p:cNvCxnSpPr>
            <a:cxnSpLocks/>
          </p:cNvCxnSpPr>
          <p:nvPr/>
        </p:nvCxnSpPr>
        <p:spPr>
          <a:xfrm>
            <a:off x="3995808" y="11364327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C3E9B422-9B9B-B42E-196E-69A4CE94E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932569"/>
              </p:ext>
            </p:extLst>
          </p:nvPr>
        </p:nvGraphicFramePr>
        <p:xfrm>
          <a:off x="381000" y="9101138"/>
          <a:ext cx="26765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676363" imgH="961911" progId="Excel.Sheet.12">
                  <p:link updateAutomatic="1"/>
                </p:oleObj>
              </mc:Choice>
              <mc:Fallback>
                <p:oleObj name="Worksheet" r:id="rId3" imgW="2676363" imgH="96191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9101138"/>
                        <a:ext cx="2676525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B01BAA7-CC43-390A-9FF2-D25F67528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746644"/>
              </p:ext>
            </p:extLst>
          </p:nvPr>
        </p:nvGraphicFramePr>
        <p:xfrm>
          <a:off x="370591" y="5556652"/>
          <a:ext cx="2759448" cy="204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80">
                  <a:extLst>
                    <a:ext uri="{9D8B030D-6E8A-4147-A177-3AD203B41FA5}">
                      <a16:colId xmlns:a16="http://schemas.microsoft.com/office/drawing/2014/main" val="911635076"/>
                    </a:ext>
                  </a:extLst>
                </a:gridCol>
                <a:gridCol w="545672">
                  <a:extLst>
                    <a:ext uri="{9D8B030D-6E8A-4147-A177-3AD203B41FA5}">
                      <a16:colId xmlns:a16="http://schemas.microsoft.com/office/drawing/2014/main" val="2462746870"/>
                    </a:ext>
                  </a:extLst>
                </a:gridCol>
                <a:gridCol w="929896">
                  <a:extLst>
                    <a:ext uri="{9D8B030D-6E8A-4147-A177-3AD203B41FA5}">
                      <a16:colId xmlns:a16="http://schemas.microsoft.com/office/drawing/2014/main" val="282860734"/>
                    </a:ext>
                  </a:extLst>
                </a:gridCol>
              </a:tblGrid>
              <a:tr h="25148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Límites de Inversión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692455"/>
                  </a:ext>
                </a:extLst>
              </a:tr>
              <a:tr h="18544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Mínimo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Máximo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1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Bonos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9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Depósitos a Plazo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2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Facturas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37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Financiamientos (Inmobiliario, </a:t>
                      </a:r>
                      <a:r>
                        <a:rPr lang="es-MX" sz="700" dirty="0" err="1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Mezzanine</a:t>
                      </a:r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, etc.)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6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Efectos de Comercio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489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Pagaré Banco Central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28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Caja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544590"/>
                  </a:ext>
                </a:extLst>
              </a:tr>
            </a:tbl>
          </a:graphicData>
        </a:graphic>
      </p:graphicFrame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AC8EB108-8432-C777-A749-33D46A40F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749712"/>
              </p:ext>
            </p:extLst>
          </p:nvPr>
        </p:nvGraphicFramePr>
        <p:xfrm>
          <a:off x="254000" y="3390900"/>
          <a:ext cx="27987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009963" imgH="390647" progId="Excel.Sheet.12">
                  <p:link updateAutomatic="1"/>
                </p:oleObj>
              </mc:Choice>
              <mc:Fallback>
                <p:oleObj name="Worksheet" r:id="rId5" imgW="3009963" imgH="39064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000" y="3390900"/>
                        <a:ext cx="2798763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5179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A27A13BC-BDC3-D149-8280-B90880BE6A34}" vid="{ACF1D4C1-1807-D441-9AC5-B533300F9B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5705</TotalTime>
  <Words>600</Words>
  <Application>Microsoft Office PowerPoint</Application>
  <PresentationFormat>Custom</PresentationFormat>
  <Paragraphs>97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Clara Fermandois</dc:creator>
  <cp:lastModifiedBy>Valeria Cabrera</cp:lastModifiedBy>
  <cp:revision>52</cp:revision>
  <dcterms:created xsi:type="dcterms:W3CDTF">2023-10-23T13:37:39Z</dcterms:created>
  <dcterms:modified xsi:type="dcterms:W3CDTF">2026-03-03T20:18:11Z</dcterms:modified>
</cp:coreProperties>
</file>