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charts/chart1.xml" ContentType="application/vnd.openxmlformats-officedocument.drawingml.chart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</p:sldIdLst>
  <p:notesMasterIdLst>
    <p:notesMasterId r:id="rId4"/>
  </p:notesMasterIdLst>
  <p:sldSz cx="7562088" cy="10689336"/>
  <p:notesSz cx="10689336" cy="7562088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notesMaster" Target="notesMasters/notesMaster1.xml"/><Relationship Id="rId5" Type="http://schemas.openxmlformats.org/officeDocument/2006/relationships/presProps" Target="presProps.xml"/><Relationship Id="rId6" Type="http://schemas.openxmlformats.org/officeDocument/2006/relationships/viewProps" Target="viewProps.xml"/><Relationship Id="rId7" Type="http://schemas.openxmlformats.org/officeDocument/2006/relationships/theme" Target="theme/theme1.xml"/><Relationship Id="rId8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ICP Nom.</c:v>
                </c:pt>
              </c:strCache>
            </c:strRef>
          </c:tx>
          <c:spPr>
            <a:solidFill>
              <a:srgbClr val="999999"/>
            </a:solidFill>
            <a:ln w="15240" cap="flat">
              <a:solidFill>
                <a:srgbClr val="999999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6"/>
            <c:spPr>
              <a:solidFill>
                <a:srgbClr val="999999"/>
              </a:solidFill>
              <a:ln w="9525" cap="flat">
                <a:solidFill>
                  <a:srgbClr val="999999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Sheet1!$A$2:$A$12</c:f>
              <c:multiLvlStrCache>
                <c:ptCount val="11"/>
                <c:lvl>
                  <c:pt idx="0">
                    <c:v>2025-07-31</c:v>
                  </c:pt>
                  <c:pt idx="1">
                    <c:v>2025-08-31</c:v>
                  </c:pt>
                  <c:pt idx="2">
                    <c:v>2025-09-30</c:v>
                  </c:pt>
                  <c:pt idx="3">
                    <c:v>2025-10-31</c:v>
                  </c:pt>
                  <c:pt idx="4">
                    <c:v>2025-11-30</c:v>
                  </c:pt>
                  <c:pt idx="5">
                    <c:v>2025-12-31</c:v>
                  </c:pt>
                  <c:pt idx="6">
                    <c:v>2026-01-31</c:v>
                  </c:pt>
                  <c:pt idx="7">
                    <c:v>2026-02-28</c:v>
                  </c:pt>
                  <c:pt idx="8">
                    <c:v>2026-03-31</c:v>
                  </c:pt>
                  <c:pt idx="9">
                    <c:v>2026-04-30</c:v>
                  </c:pt>
                  <c:pt idx="10">
                    <c:v>2026-05-31</c:v>
                  </c:pt>
                </c:lvl>
              </c:multiLvlStrCache>
            </c:multiLvlStrRef>
          </c:cat>
          <c:val>
            <c:numRef>
              <c:f>Sheet1!$B$2:$B$12</c:f>
              <c:numCache>
                <c:formatCode>General</c:formatCode>
                <c:ptCount val="11"/>
                <c:pt idx="0">
                  <c:v>519.78</c:v>
                </c:pt>
                <c:pt idx="1">
                  <c:v>522.32</c:v>
                </c:pt>
                <c:pt idx="2">
                  <c:v>523.75</c:v>
                </c:pt>
                <c:pt idx="3">
                  <c:v>524.58</c:v>
                </c:pt>
                <c:pt idx="4">
                  <c:v>525.18</c:v>
                </c:pt>
                <c:pt idx="5">
                  <c:v>525.63</c:v>
                </c:pt>
                <c:pt idx="6">
                  <c:v>525.88</c:v>
                </c:pt>
                <c:pt idx="7">
                  <c:v>526.1</c:v>
                </c:pt>
                <c:pt idx="8">
                  <c:v>526.32</c:v>
                </c:pt>
                <c:pt idx="9">
                  <c:v>526.54</c:v>
                </c:pt>
                <c:pt idx="10">
                  <c:v>526.76</c:v>
                </c:pt>
              </c:numCache>
            </c:numRef>
          </c:val>
          <c:smooth val="0"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FIP LIQUIDEZ PERMANENTE</c:v>
                </c:pt>
              </c:strCache>
            </c:strRef>
          </c:tx>
          <c:spPr>
            <a:solidFill>
              <a:srgbClr val="000000"/>
            </a:solidFill>
            <a:ln w="15240" cap="flat">
              <a:solidFill>
                <a:srgbClr val="000000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6"/>
            <c:spPr>
              <a:solidFill>
                <a:srgbClr val="000000"/>
              </a:solidFill>
              <a:ln w="9525" cap="flat">
                <a:solidFill>
                  <a:srgbClr val="000000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Sheet1!$A$2:$A$12</c:f>
              <c:multiLvlStrCache>
                <c:ptCount val="11"/>
                <c:lvl>
                  <c:pt idx="0">
                    <c:v>2025-07-31</c:v>
                  </c:pt>
                  <c:pt idx="1">
                    <c:v>2025-08-31</c:v>
                  </c:pt>
                  <c:pt idx="2">
                    <c:v>2025-09-30</c:v>
                  </c:pt>
                  <c:pt idx="3">
                    <c:v>2025-10-31</c:v>
                  </c:pt>
                  <c:pt idx="4">
                    <c:v>2025-11-30</c:v>
                  </c:pt>
                  <c:pt idx="5">
                    <c:v>2025-12-31</c:v>
                  </c:pt>
                  <c:pt idx="6">
                    <c:v>2026-01-31</c:v>
                  </c:pt>
                  <c:pt idx="7">
                    <c:v>2026-02-28</c:v>
                  </c:pt>
                  <c:pt idx="8">
                    <c:v>2026-03-31</c:v>
                  </c:pt>
                  <c:pt idx="9">
                    <c:v>2026-04-30</c:v>
                  </c:pt>
                  <c:pt idx="10">
                    <c:v>2026-05-31</c:v>
                  </c:pt>
                </c:lvl>
              </c:multiLvlStrCache>
            </c:multiLvlStrRef>
          </c:cat>
          <c:val>
            <c:numRef>
              <c:f>Sheet1!$C$2:$C$12</c:f>
              <c:numCache>
                <c:formatCode>General</c:formatCode>
                <c:ptCount val="11"/>
                <c:pt idx="0">
                  <c:v>1000</c:v>
                </c:pt>
                <c:pt idx="1">
                  <c:v>1006.65</c:v>
                </c:pt>
                <c:pt idx="2">
                  <c:v>1012.74</c:v>
                </c:pt>
                <c:pt idx="3">
                  <c:v>1018.64</c:v>
                </c:pt>
                <c:pt idx="4">
                  <c:v>1026.71</c:v>
                </c:pt>
                <c:pt idx="5">
                  <c:v>1068.18</c:v>
                </c:pt>
                <c:pt idx="6">
                  <c:v>1041.19</c:v>
                </c:pt>
                <c:pt idx="7">
                  <c:v>1046.85</c:v>
                </c:pt>
                <c:pt idx="8">
                  <c:v>1052.84</c:v>
                </c:pt>
                <c:pt idx="9">
                  <c:v>1058.77</c:v>
                </c:pt>
                <c:pt idx="10">
                  <c:v>1059.72</c:v>
                </c:pt>
              </c:numCache>
            </c:numRef>
          </c:val>
          <c:smooth val="0"/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Competencia Relevante (*)</c:v>
                </c:pt>
              </c:strCache>
            </c:strRef>
          </c:tx>
          <c:spPr>
            <a:solidFill>
              <a:srgbClr val="555555"/>
            </a:solidFill>
            <a:ln w="15240" cap="flat">
              <a:solidFill>
                <a:srgbClr val="555555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6"/>
            <c:spPr>
              <a:solidFill>
                <a:srgbClr val="555555"/>
              </a:solidFill>
              <a:ln w="9525" cap="flat">
                <a:solidFill>
                  <a:srgbClr val="555555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Sheet1!$A$2:$A$12</c:f>
              <c:multiLvlStrCache>
                <c:ptCount val="11"/>
                <c:lvl>
                  <c:pt idx="0">
                    <c:v>2025-07-31</c:v>
                  </c:pt>
                  <c:pt idx="1">
                    <c:v>2025-08-31</c:v>
                  </c:pt>
                  <c:pt idx="2">
                    <c:v>2025-09-30</c:v>
                  </c:pt>
                  <c:pt idx="3">
                    <c:v>2025-10-31</c:v>
                  </c:pt>
                  <c:pt idx="4">
                    <c:v>2025-11-30</c:v>
                  </c:pt>
                  <c:pt idx="5">
                    <c:v>2025-12-31</c:v>
                  </c:pt>
                  <c:pt idx="6">
                    <c:v>2026-01-31</c:v>
                  </c:pt>
                  <c:pt idx="7">
                    <c:v>2026-02-28</c:v>
                  </c:pt>
                  <c:pt idx="8">
                    <c:v>2026-03-31</c:v>
                  </c:pt>
                  <c:pt idx="9">
                    <c:v>2026-04-30</c:v>
                  </c:pt>
                  <c:pt idx="10">
                    <c:v>2026-05-31</c:v>
                  </c:pt>
                </c:lvl>
              </c:multiLvlStrCache>
            </c:multiLvlStrRef>
          </c:cat>
          <c:val>
            <c:numRef>
              <c:f>Sheet1!$D$2:$D$12</c:f>
              <c:numCache>
                <c:formatCode>General</c:formatCode>
                <c:ptCount val="11"/>
                <c:pt idx="0">
                  <c:v>907.63</c:v>
                </c:pt>
                <c:pt idx="1">
                  <c:v>909.53</c:v>
                </c:pt>
                <c:pt idx="2">
                  <c:v>913.59</c:v>
                </c:pt>
                <c:pt idx="3">
                  <c:v>913.59</c:v>
                </c:pt>
                <c:pt idx="4">
                  <c:v>915.24</c:v>
                </c:pt>
                <c:pt idx="5">
                  <c:v>917.14</c:v>
                </c:pt>
                <c:pt idx="6">
                  <c:v>919.08</c:v>
                </c:pt>
                <c:pt idx="7">
                  <c:v>921.04</c:v>
                </c:pt>
                <c:pt idx="8">
                  <c:v>923.01</c:v>
                </c:pt>
                <c:pt idx="9">
                  <c:v>925.03</c:v>
                </c:pt>
                <c:pt idx="10">
                  <c:v>926.95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600" b="0" i="0" u="none" strike="noStrike">
                <a:solidFill>
                  <a:srgbClr val="666666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  <c:tickLblSkip val="1"/>
      </c:catAx>
      <c:valAx>
        <c:axId val="2094734552"/>
        <c:scaling>
          <c:orientation val="minMax"/>
          <c:min val="504"/>
        </c:scaling>
        <c:delete val="0"/>
        <c:axPos val="l"/>
        <c:majorGridlines>
          <c:spPr>
            <a:ln w="3810" cap="flat">
              <a:solidFill>
                <a:srgbClr val="EEEEEE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600" b="0" i="0" u="none" strike="noStrike">
                <a:solidFill>
                  <a:srgbClr val="666666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FFFFF"/>
        </a:solidFill>
        <a:ln>
          <a:noFill/>
        </a:ln>
        <a:effectLst/>
      </c:spPr>
    </c:plotArea>
    <c:legend>
      <c:legendPos val="r"/>
      <c:overlay val="0"/>
      <c:txPr>
        <a:bodyPr/>
        <a:lstStyle/>
        <a:p>
          <a:pPr>
            <a:defRPr sz="600">      </a:defRPr>
          </a:pPr>
          <a:endParaRPr lang="en-US"/>
        </a:p>
      </c:txPr>
    </c:legend>
    <c:plotVisOnly val="1"/>
    <c:dispBlanksAs val="span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450592" cy="1737360"/>
          </a:xfrm>
          <a:prstGeom prst="rect">
            <a:avLst/>
          </a:prstGeom>
          <a:solidFill>
            <a:srgbClr val="000000"/>
          </a:solidFill>
          <a:ln/>
        </p:spPr>
      </p:sp>
      <p:sp>
        <p:nvSpPr>
          <p:cNvPr id="3" name="Text 1"/>
          <p:cNvSpPr/>
          <p:nvPr/>
        </p:nvSpPr>
        <p:spPr>
          <a:xfrm>
            <a:off x="118872" y="164592"/>
            <a:ext cx="2212848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Liquidez</a:t>
            </a:r>
            <a:endParaRPr lang="en-US" sz="2200" dirty="0"/>
          </a:p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Permanente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118872" y="1426464"/>
            <a:ext cx="22128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spc="400" kern="0" dirty="0">
                <a:solidFill>
                  <a:srgbClr val="AAAA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 O N D O</a:t>
            </a:r>
            <a:endParaRPr lang="en-US" sz="700" dirty="0"/>
          </a:p>
        </p:txBody>
      </p:sp>
      <p:sp>
        <p:nvSpPr>
          <p:cNvPr id="5" name="Shape 3"/>
          <p:cNvSpPr/>
          <p:nvPr/>
        </p:nvSpPr>
        <p:spPr>
          <a:xfrm>
            <a:off x="2450592" y="0"/>
            <a:ext cx="0" cy="10689336"/>
          </a:xfrm>
          <a:prstGeom prst="line">
            <a:avLst/>
          </a:prstGeom>
          <a:noFill/>
          <a:ln w="6350">
            <a:solidFill>
              <a:srgbClr val="EEEEEE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18872" y="1828800"/>
            <a:ext cx="22128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Información General</a:t>
            </a:r>
            <a:endParaRPr lang="en-US" sz="800" dirty="0"/>
          </a:p>
        </p:txBody>
      </p:sp>
      <p:sp>
        <p:nvSpPr>
          <p:cNvPr id="7" name="Shape 5"/>
          <p:cNvSpPr/>
          <p:nvPr/>
        </p:nvSpPr>
        <p:spPr>
          <a:xfrm>
            <a:off x="118872" y="2011680"/>
            <a:ext cx="2212848" cy="0"/>
          </a:xfrm>
          <a:prstGeom prst="line">
            <a:avLst/>
          </a:prstGeom>
          <a:noFill/>
          <a:ln w="12700">
            <a:solidFill>
              <a:srgbClr val="000000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118872" y="2075688"/>
            <a:ext cx="9144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Administradora</a:t>
            </a:r>
            <a:endParaRPr lang="en-US" sz="650" dirty="0"/>
          </a:p>
        </p:txBody>
      </p:sp>
      <p:sp>
        <p:nvSpPr>
          <p:cNvPr id="9" name="Text 7"/>
          <p:cNvSpPr/>
          <p:nvPr/>
        </p:nvSpPr>
        <p:spPr>
          <a:xfrm>
            <a:off x="1051560" y="2075688"/>
            <a:ext cx="12801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Vantrust Gestion Patrimonial S.A.</a:t>
            </a:r>
            <a:endParaRPr lang="en-US" sz="650" dirty="0"/>
          </a:p>
        </p:txBody>
      </p:sp>
      <p:sp>
        <p:nvSpPr>
          <p:cNvPr id="10" name="Text 8"/>
          <p:cNvSpPr/>
          <p:nvPr/>
        </p:nvSpPr>
        <p:spPr>
          <a:xfrm>
            <a:off x="118872" y="2249424"/>
            <a:ext cx="9144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RUT Fondo</a:t>
            </a:r>
            <a:endParaRPr lang="en-US" sz="650" dirty="0"/>
          </a:p>
        </p:txBody>
      </p:sp>
      <p:sp>
        <p:nvSpPr>
          <p:cNvPr id="11" name="Text 9"/>
          <p:cNvSpPr/>
          <p:nvPr/>
        </p:nvSpPr>
        <p:spPr>
          <a:xfrm>
            <a:off x="1051560" y="2249424"/>
            <a:ext cx="12801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77,806,942-3</a:t>
            </a:r>
            <a:endParaRPr lang="en-US" sz="650" dirty="0"/>
          </a:p>
        </p:txBody>
      </p:sp>
      <p:sp>
        <p:nvSpPr>
          <p:cNvPr id="12" name="Text 10"/>
          <p:cNvSpPr/>
          <p:nvPr/>
        </p:nvSpPr>
        <p:spPr>
          <a:xfrm>
            <a:off x="118872" y="2423160"/>
            <a:ext cx="9144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Moneda</a:t>
            </a:r>
            <a:endParaRPr lang="en-US" sz="650" dirty="0"/>
          </a:p>
        </p:txBody>
      </p:sp>
      <p:sp>
        <p:nvSpPr>
          <p:cNvPr id="13" name="Text 11"/>
          <p:cNvSpPr/>
          <p:nvPr/>
        </p:nvSpPr>
        <p:spPr>
          <a:xfrm>
            <a:off x="1051560" y="2423160"/>
            <a:ext cx="12801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CLP</a:t>
            </a:r>
            <a:endParaRPr lang="en-US" sz="650" dirty="0"/>
          </a:p>
        </p:txBody>
      </p:sp>
      <p:sp>
        <p:nvSpPr>
          <p:cNvPr id="14" name="Text 12"/>
          <p:cNvSpPr/>
          <p:nvPr/>
        </p:nvSpPr>
        <p:spPr>
          <a:xfrm>
            <a:off x="118872" y="2596896"/>
            <a:ext cx="9144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Tipo de Fondo</a:t>
            </a:r>
            <a:endParaRPr lang="en-US" sz="650" dirty="0"/>
          </a:p>
        </p:txBody>
      </p:sp>
      <p:sp>
        <p:nvSpPr>
          <p:cNvPr id="15" name="Text 13"/>
          <p:cNvSpPr/>
          <p:nvPr/>
        </p:nvSpPr>
        <p:spPr>
          <a:xfrm>
            <a:off x="1051560" y="2596896"/>
            <a:ext cx="12801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Fondo de Inversión Privado</a:t>
            </a:r>
            <a:endParaRPr lang="en-US" sz="650" dirty="0"/>
          </a:p>
        </p:txBody>
      </p:sp>
      <p:sp>
        <p:nvSpPr>
          <p:cNvPr id="16" name="Text 14"/>
          <p:cNvSpPr/>
          <p:nvPr/>
        </p:nvSpPr>
        <p:spPr>
          <a:xfrm>
            <a:off x="118872" y="2770632"/>
            <a:ext cx="9144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Fecha Inicio</a:t>
            </a:r>
            <a:endParaRPr lang="en-US" sz="650" dirty="0"/>
          </a:p>
        </p:txBody>
      </p:sp>
      <p:sp>
        <p:nvSpPr>
          <p:cNvPr id="17" name="Text 15"/>
          <p:cNvSpPr/>
          <p:nvPr/>
        </p:nvSpPr>
        <p:spPr>
          <a:xfrm>
            <a:off x="1051560" y="2770632"/>
            <a:ext cx="12801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Septiembre 2023</a:t>
            </a:r>
            <a:endParaRPr lang="en-US" sz="650" dirty="0"/>
          </a:p>
        </p:txBody>
      </p:sp>
      <p:sp>
        <p:nvSpPr>
          <p:cNvPr id="18" name="Text 16"/>
          <p:cNvSpPr/>
          <p:nvPr/>
        </p:nvSpPr>
        <p:spPr>
          <a:xfrm>
            <a:off x="118872" y="2944368"/>
            <a:ext cx="9144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Benchmark</a:t>
            </a:r>
            <a:endParaRPr lang="en-US" sz="650" dirty="0"/>
          </a:p>
        </p:txBody>
      </p:sp>
      <p:sp>
        <p:nvSpPr>
          <p:cNvPr id="19" name="Text 17"/>
          <p:cNvSpPr/>
          <p:nvPr/>
        </p:nvSpPr>
        <p:spPr>
          <a:xfrm>
            <a:off x="1051560" y="2944368"/>
            <a:ext cx="12801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Índice Cámara Promedio (ICP)</a:t>
            </a:r>
            <a:endParaRPr lang="en-US" sz="650" dirty="0"/>
          </a:p>
        </p:txBody>
      </p:sp>
      <p:sp>
        <p:nvSpPr>
          <p:cNvPr id="20" name="Text 18"/>
          <p:cNvSpPr/>
          <p:nvPr/>
        </p:nvSpPr>
        <p:spPr>
          <a:xfrm>
            <a:off x="118872" y="3118104"/>
            <a:ext cx="9144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Fondo Rescatable</a:t>
            </a:r>
            <a:endParaRPr lang="en-US" sz="650" dirty="0"/>
          </a:p>
        </p:txBody>
      </p:sp>
      <p:sp>
        <p:nvSpPr>
          <p:cNvPr id="21" name="Text 19"/>
          <p:cNvSpPr/>
          <p:nvPr/>
        </p:nvSpPr>
        <p:spPr>
          <a:xfrm>
            <a:off x="1051560" y="3118104"/>
            <a:ext cx="12801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Sí</a:t>
            </a:r>
            <a:endParaRPr lang="en-US" sz="650" dirty="0"/>
          </a:p>
        </p:txBody>
      </p:sp>
      <p:sp>
        <p:nvSpPr>
          <p:cNvPr id="22" name="Text 20"/>
          <p:cNvSpPr/>
          <p:nvPr/>
        </p:nvSpPr>
        <p:spPr>
          <a:xfrm>
            <a:off x="118872" y="3291840"/>
            <a:ext cx="9144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Plazo Rescate</a:t>
            </a:r>
            <a:endParaRPr lang="en-US" sz="650" dirty="0"/>
          </a:p>
        </p:txBody>
      </p:sp>
      <p:sp>
        <p:nvSpPr>
          <p:cNvPr id="23" name="Text 21"/>
          <p:cNvSpPr/>
          <p:nvPr/>
        </p:nvSpPr>
        <p:spPr>
          <a:xfrm>
            <a:off x="1051560" y="3291840"/>
            <a:ext cx="12801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más tardar 15 días corridos</a:t>
            </a:r>
            <a:endParaRPr lang="en-US" sz="650" dirty="0"/>
          </a:p>
        </p:txBody>
      </p:sp>
      <p:sp>
        <p:nvSpPr>
          <p:cNvPr id="24" name="Text 22"/>
          <p:cNvSpPr/>
          <p:nvPr/>
        </p:nvSpPr>
        <p:spPr>
          <a:xfrm>
            <a:off x="118872" y="3465576"/>
            <a:ext cx="91440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Riesgos</a:t>
            </a:r>
            <a:endParaRPr lang="en-US" sz="650" dirty="0"/>
          </a:p>
        </p:txBody>
      </p:sp>
      <p:sp>
        <p:nvSpPr>
          <p:cNvPr id="25" name="Text 23"/>
          <p:cNvSpPr/>
          <p:nvPr/>
        </p:nvSpPr>
        <p:spPr>
          <a:xfrm>
            <a:off x="1051560" y="3465576"/>
            <a:ext cx="128016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Mercado- Crédito - Liquidez - Tasa de interés - Derivados</a:t>
            </a:r>
            <a:endParaRPr lang="en-US" sz="650" dirty="0"/>
          </a:p>
        </p:txBody>
      </p:sp>
      <p:sp>
        <p:nvSpPr>
          <p:cNvPr id="26" name="Text 24"/>
          <p:cNvSpPr/>
          <p:nvPr/>
        </p:nvSpPr>
        <p:spPr>
          <a:xfrm>
            <a:off x="118872" y="3730752"/>
            <a:ext cx="91440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Remuneración</a:t>
            </a:r>
            <a:endParaRPr lang="en-US" sz="650" dirty="0"/>
          </a:p>
        </p:txBody>
      </p:sp>
      <p:sp>
        <p:nvSpPr>
          <p:cNvPr id="27" name="Text 25"/>
          <p:cNvSpPr/>
          <p:nvPr/>
        </p:nvSpPr>
        <p:spPr>
          <a:xfrm>
            <a:off x="1051560" y="3730752"/>
            <a:ext cx="128016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Menor valor entre 0,25% anual + IVA y 50% de rentabilidad + IVA</a:t>
            </a:r>
            <a:endParaRPr lang="en-US" sz="650" dirty="0"/>
          </a:p>
        </p:txBody>
      </p:sp>
      <p:sp>
        <p:nvSpPr>
          <p:cNvPr id="28" name="Text 26"/>
          <p:cNvSpPr/>
          <p:nvPr/>
        </p:nvSpPr>
        <p:spPr>
          <a:xfrm>
            <a:off x="118872" y="3995928"/>
            <a:ext cx="9144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Custodio</a:t>
            </a:r>
            <a:endParaRPr lang="en-US" sz="650" dirty="0"/>
          </a:p>
        </p:txBody>
      </p:sp>
      <p:sp>
        <p:nvSpPr>
          <p:cNvPr id="29" name="Text 27"/>
          <p:cNvSpPr/>
          <p:nvPr/>
        </p:nvSpPr>
        <p:spPr>
          <a:xfrm>
            <a:off x="1051560" y="3995928"/>
            <a:ext cx="12801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Vantrust Capital C. de Bolsa</a:t>
            </a:r>
            <a:endParaRPr lang="en-US" sz="650" dirty="0"/>
          </a:p>
        </p:txBody>
      </p:sp>
      <p:sp>
        <p:nvSpPr>
          <p:cNvPr id="30" name="Shape 28"/>
          <p:cNvSpPr/>
          <p:nvPr/>
        </p:nvSpPr>
        <p:spPr>
          <a:xfrm>
            <a:off x="118872" y="4169664"/>
            <a:ext cx="2212848" cy="0"/>
          </a:xfrm>
          <a:prstGeom prst="line">
            <a:avLst/>
          </a:prstGeom>
          <a:noFill/>
          <a:ln w="6350">
            <a:solidFill>
              <a:srgbClr val="DDDDDD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118872" y="4261104"/>
            <a:ext cx="22128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Objetivo</a:t>
            </a:r>
            <a:endParaRPr lang="en-US" sz="800" dirty="0"/>
          </a:p>
        </p:txBody>
      </p:sp>
      <p:sp>
        <p:nvSpPr>
          <p:cNvPr id="32" name="Shape 30"/>
          <p:cNvSpPr/>
          <p:nvPr/>
        </p:nvSpPr>
        <p:spPr>
          <a:xfrm>
            <a:off x="118872" y="4443984"/>
            <a:ext cx="2212848" cy="0"/>
          </a:xfrm>
          <a:prstGeom prst="line">
            <a:avLst/>
          </a:prstGeom>
          <a:noFill/>
          <a:ln w="12700">
            <a:solidFill>
              <a:srgbClr val="000000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118872" y="4507992"/>
            <a:ext cx="221284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Invertir los recursos del fondo en instrumentos de deuda de corto y mediano plazo, en una cartera diversificada, obteniendo una rentabilidad igual o superior al ICP.</a:t>
            </a:r>
            <a:endParaRPr lang="en-US" sz="700" dirty="0"/>
          </a:p>
        </p:txBody>
      </p:sp>
      <p:sp>
        <p:nvSpPr>
          <p:cNvPr id="34" name="Shape 32"/>
          <p:cNvSpPr/>
          <p:nvPr/>
        </p:nvSpPr>
        <p:spPr>
          <a:xfrm>
            <a:off x="118872" y="5212080"/>
            <a:ext cx="2212848" cy="0"/>
          </a:xfrm>
          <a:prstGeom prst="line">
            <a:avLst/>
          </a:prstGeom>
          <a:noFill/>
          <a:ln w="6350">
            <a:solidFill>
              <a:srgbClr val="DDDDDD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118872" y="5303520"/>
            <a:ext cx="22128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Rentabilidad</a:t>
            </a:r>
            <a:endParaRPr lang="en-US" sz="800" dirty="0"/>
          </a:p>
        </p:txBody>
      </p:sp>
      <p:sp>
        <p:nvSpPr>
          <p:cNvPr id="36" name="Shape 34"/>
          <p:cNvSpPr/>
          <p:nvPr/>
        </p:nvSpPr>
        <p:spPr>
          <a:xfrm>
            <a:off x="118872" y="5486400"/>
            <a:ext cx="2212848" cy="0"/>
          </a:xfrm>
          <a:prstGeom prst="line">
            <a:avLst/>
          </a:prstGeom>
          <a:noFill/>
          <a:ln w="12700">
            <a:solidFill>
              <a:srgbClr val="000000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118872" y="5550408"/>
            <a:ext cx="2212848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rentabilidad esperada del Fip Vantrust Liquidez Permanente, es la tasa de política monetaria promedio del Banco Central de Chile.</a:t>
            </a:r>
            <a:endParaRPr lang="en-US" sz="700" dirty="0"/>
          </a:p>
        </p:txBody>
      </p:sp>
      <p:sp>
        <p:nvSpPr>
          <p:cNvPr id="38" name="Shape 36"/>
          <p:cNvSpPr/>
          <p:nvPr/>
        </p:nvSpPr>
        <p:spPr>
          <a:xfrm>
            <a:off x="118872" y="6208776"/>
            <a:ext cx="2212848" cy="0"/>
          </a:xfrm>
          <a:prstGeom prst="line">
            <a:avLst/>
          </a:prstGeom>
          <a:noFill/>
          <a:ln w="6350">
            <a:solidFill>
              <a:srgbClr val="DDDDDD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118872" y="6300216"/>
            <a:ext cx="22128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Inversionistas</a:t>
            </a:r>
            <a:endParaRPr lang="en-US" sz="800" dirty="0"/>
          </a:p>
        </p:txBody>
      </p:sp>
      <p:sp>
        <p:nvSpPr>
          <p:cNvPr id="40" name="Shape 38"/>
          <p:cNvSpPr/>
          <p:nvPr/>
        </p:nvSpPr>
        <p:spPr>
          <a:xfrm>
            <a:off x="118872" y="6483096"/>
            <a:ext cx="2212848" cy="0"/>
          </a:xfrm>
          <a:prstGeom prst="line">
            <a:avLst/>
          </a:prstGeom>
          <a:noFill/>
          <a:ln w="12700">
            <a:solidFill>
              <a:srgbClr val="000000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118872" y="6547104"/>
            <a:ext cx="221284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Dirigida a empresas y personas que buscan invertir sus excedentes de caja con una rentabilidad de corto plazo y baja tolerancia al riesgo.</a:t>
            </a:r>
            <a:endParaRPr lang="en-US" sz="700" dirty="0"/>
          </a:p>
        </p:txBody>
      </p:sp>
      <p:sp>
        <p:nvSpPr>
          <p:cNvPr id="42" name="Text 40"/>
          <p:cNvSpPr/>
          <p:nvPr/>
        </p:nvSpPr>
        <p:spPr>
          <a:xfrm>
            <a:off x="2606040" y="137160"/>
            <a:ext cx="4818888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Comentario Portafolio Manager</a:t>
            </a:r>
            <a:endParaRPr lang="en-US" sz="1300" dirty="0"/>
          </a:p>
        </p:txBody>
      </p:sp>
      <p:sp>
        <p:nvSpPr>
          <p:cNvPr id="43" name="Shape 41"/>
          <p:cNvSpPr/>
          <p:nvPr/>
        </p:nvSpPr>
        <p:spPr>
          <a:xfrm>
            <a:off x="2606040" y="411480"/>
            <a:ext cx="4818888" cy="0"/>
          </a:xfrm>
          <a:prstGeom prst="line">
            <a:avLst/>
          </a:prstGeom>
          <a:noFill/>
          <a:ln w="19050">
            <a:solidFill>
              <a:srgbClr val="000000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2606040" y="502920"/>
            <a:ext cx="4818888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just" indent="0" marL="0">
              <a:buNone/>
            </a:pPr>
            <a:r>
              <a:rPr lang="en-US" sz="8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prueba 11 CLP</a:t>
            </a:r>
            <a:endParaRPr lang="en-US" sz="800" dirty="0"/>
          </a:p>
        </p:txBody>
      </p:sp>
      <p:sp>
        <p:nvSpPr>
          <p:cNvPr id="45" name="Text 43"/>
          <p:cNvSpPr/>
          <p:nvPr/>
        </p:nvSpPr>
        <p:spPr>
          <a:xfrm>
            <a:off x="2606040" y="2240280"/>
            <a:ext cx="4818888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Liquidez Permanente</a:t>
            </a:r>
            <a:endParaRPr lang="en-US" sz="750" dirty="0"/>
          </a:p>
        </p:txBody>
      </p:sp>
      <p:graphicFrame>
        <p:nvGraphicFramePr>
          <p:cNvPr id="46" name="Chart 0" descr=""/>
          <p:cNvGraphicFramePr/>
          <p:nvPr/>
        </p:nvGraphicFramePr>
        <p:xfrm>
          <a:off x="2606040" y="2395728"/>
          <a:ext cx="4818888" cy="169164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47" name="Text 44"/>
          <p:cNvSpPr/>
          <p:nvPr/>
        </p:nvSpPr>
        <p:spPr>
          <a:xfrm>
            <a:off x="2606040" y="4242816"/>
            <a:ext cx="481888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Evolución Rentabilidad</a:t>
            </a:r>
            <a:endParaRPr lang="en-US" sz="1300" dirty="0"/>
          </a:p>
        </p:txBody>
      </p:sp>
      <p:sp>
        <p:nvSpPr>
          <p:cNvPr id="48" name="Shape 45"/>
          <p:cNvSpPr/>
          <p:nvPr/>
        </p:nvSpPr>
        <p:spPr>
          <a:xfrm>
            <a:off x="2606040" y="4498848"/>
            <a:ext cx="4818888" cy="0"/>
          </a:xfrm>
          <a:prstGeom prst="line">
            <a:avLst/>
          </a:prstGeom>
          <a:noFill/>
          <a:ln w="19050">
            <a:solidFill>
              <a:srgbClr val="000000"/>
            </a:solidFill>
            <a:prstDash val="solid"/>
          </a:ln>
        </p:spPr>
      </p:sp>
      <p:graphicFrame>
        <p:nvGraphicFramePr>
          <p:cNvPr id="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2606040" y="4572000"/>
          <a:ext cx="4818888" cy="914400"/>
        </p:xfrm>
        <a:graphic>
          <a:graphicData uri="http://schemas.openxmlformats.org/drawingml/2006/table">
            <a:tbl>
              <a:tblPr/>
              <a:tblGrid>
                <a:gridCol w="1298448"/>
                <a:gridCol w="566928"/>
                <a:gridCol w="658368"/>
                <a:gridCol w="658368"/>
                <a:gridCol w="566928"/>
                <a:gridCol w="594360"/>
              </a:tblGrid>
              <a:tr h="1828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Rentabilidad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Mensual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Trimestral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Semestral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Anual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Acum.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2026 (*)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1828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 (Benchmark)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0,37%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1,13%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2,30%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4,82%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3,39%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1828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0,26%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0,77%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1,62%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3,43%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2,32%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1828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FIP LIQUIDEZ PERMANENTE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0,56%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1,69%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3,94%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5,06%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0" name="Text 46"/>
          <p:cNvSpPr/>
          <p:nvPr/>
        </p:nvSpPr>
        <p:spPr>
          <a:xfrm>
            <a:off x="2606040" y="5349240"/>
            <a:ext cx="4818888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00" i="1" dirty="0">
                <a:solidFill>
                  <a:srgbClr val="9999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*Valores correspondientes a la rentabilidad anualizada, no acumulada</a:t>
            </a:r>
            <a:endParaRPr lang="en-US" sz="600" dirty="0"/>
          </a:p>
        </p:txBody>
      </p:sp>
      <p:sp>
        <p:nvSpPr>
          <p:cNvPr id="51" name="Shape 47"/>
          <p:cNvSpPr/>
          <p:nvPr/>
        </p:nvSpPr>
        <p:spPr>
          <a:xfrm>
            <a:off x="2606040" y="5513832"/>
            <a:ext cx="4818888" cy="0"/>
          </a:xfrm>
          <a:prstGeom prst="line">
            <a:avLst/>
          </a:prstGeom>
          <a:noFill/>
          <a:ln w="6350">
            <a:solidFill>
              <a:srgbClr val="DDDDDD"/>
            </a:solidFill>
            <a:prstDash val="solid"/>
          </a:ln>
        </p:spPr>
      </p:sp>
      <p:graphicFrame>
        <p:nvGraphicFramePr>
          <p:cNvPr id="3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2606040" y="5577840"/>
          <a:ext cx="4818888" cy="914400"/>
        </p:xfrm>
        <a:graphic>
          <a:graphicData uri="http://schemas.openxmlformats.org/drawingml/2006/table">
            <a:tbl>
              <a:tblPr/>
              <a:tblGrid>
                <a:gridCol w="201168"/>
                <a:gridCol w="822960"/>
                <a:gridCol w="246888"/>
                <a:gridCol w="246888"/>
                <a:gridCol w="246888"/>
                <a:gridCol w="246888"/>
                <a:gridCol w="246888"/>
                <a:gridCol w="246888"/>
                <a:gridCol w="246888"/>
                <a:gridCol w="246888"/>
                <a:gridCol w="246888"/>
                <a:gridCol w="246888"/>
                <a:gridCol w="246888"/>
                <a:gridCol w="246888"/>
                <a:gridCol w="283464"/>
              </a:tblGrid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Año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Fondo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Ene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Feb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Mar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Abr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May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Jun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Jul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Ago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Sep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Oct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Nov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Dic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Total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Año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2025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4.99%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-11.28%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-8.39%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FIP LIQUIDEZ PERMANENTE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0.79%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4.04%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6.82%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2026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1.51%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1.05%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FIP LIQUIDEZ PERMANENTE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-2.53%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-0.88%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450592" cy="1325880"/>
          </a:xfrm>
          <a:prstGeom prst="rect">
            <a:avLst/>
          </a:prstGeom>
          <a:solidFill>
            <a:srgbClr val="000000"/>
          </a:solidFill>
          <a:ln/>
        </p:spPr>
      </p:sp>
      <p:sp>
        <p:nvSpPr>
          <p:cNvPr id="3" name="Text 1"/>
          <p:cNvSpPr/>
          <p:nvPr/>
        </p:nvSpPr>
        <p:spPr>
          <a:xfrm>
            <a:off x="118872" y="1024128"/>
            <a:ext cx="221284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spc="400" kern="0" dirty="0">
                <a:solidFill>
                  <a:srgbClr val="AAAA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 O N D O</a:t>
            </a:r>
            <a:endParaRPr lang="en-US" sz="700" dirty="0"/>
          </a:p>
        </p:txBody>
      </p:sp>
      <p:sp>
        <p:nvSpPr>
          <p:cNvPr id="4" name="Shape 2"/>
          <p:cNvSpPr/>
          <p:nvPr/>
        </p:nvSpPr>
        <p:spPr>
          <a:xfrm>
            <a:off x="2450592" y="0"/>
            <a:ext cx="0" cy="10689336"/>
          </a:xfrm>
          <a:prstGeom prst="line">
            <a:avLst/>
          </a:prstGeom>
          <a:noFill/>
          <a:ln w="6350">
            <a:solidFill>
              <a:srgbClr val="EEEEEE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118872" y="1463040"/>
            <a:ext cx="22128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Composición por Moneda</a:t>
            </a:r>
            <a:endParaRPr lang="en-US" sz="800" dirty="0"/>
          </a:p>
        </p:txBody>
      </p:sp>
      <p:sp>
        <p:nvSpPr>
          <p:cNvPr id="6" name="Shape 4"/>
          <p:cNvSpPr/>
          <p:nvPr/>
        </p:nvSpPr>
        <p:spPr>
          <a:xfrm>
            <a:off x="118872" y="1645920"/>
            <a:ext cx="2212848" cy="0"/>
          </a:xfrm>
          <a:prstGeom prst="line">
            <a:avLst/>
          </a:prstGeom>
          <a:noFill/>
          <a:ln w="12700">
            <a:solidFill>
              <a:srgbClr val="000000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118872" y="1719072"/>
            <a:ext cx="137160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CLP</a:t>
            </a:r>
            <a:endParaRPr lang="en-US" sz="750" dirty="0"/>
          </a:p>
        </p:txBody>
      </p:sp>
      <p:sp>
        <p:nvSpPr>
          <p:cNvPr id="8" name="Text 6"/>
          <p:cNvSpPr/>
          <p:nvPr/>
        </p:nvSpPr>
        <p:spPr>
          <a:xfrm>
            <a:off x="1490472" y="1719072"/>
            <a:ext cx="841248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100,00%</a:t>
            </a:r>
            <a:endParaRPr lang="en-US" sz="750" dirty="0"/>
          </a:p>
        </p:txBody>
      </p:sp>
      <p:sp>
        <p:nvSpPr>
          <p:cNvPr id="9" name="Shape 7"/>
          <p:cNvSpPr/>
          <p:nvPr/>
        </p:nvSpPr>
        <p:spPr>
          <a:xfrm>
            <a:off x="118872" y="1911096"/>
            <a:ext cx="2212848" cy="0"/>
          </a:xfrm>
          <a:prstGeom prst="line">
            <a:avLst/>
          </a:prstGeom>
          <a:noFill/>
          <a:ln w="6350">
            <a:solidFill>
              <a:srgbClr val="DDDDDD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18872" y="2002536"/>
            <a:ext cx="22128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Composición por Instrumento</a:t>
            </a:r>
            <a:endParaRPr lang="en-US" sz="800" dirty="0"/>
          </a:p>
        </p:txBody>
      </p:sp>
      <p:sp>
        <p:nvSpPr>
          <p:cNvPr id="11" name="Shape 9"/>
          <p:cNvSpPr/>
          <p:nvPr/>
        </p:nvSpPr>
        <p:spPr>
          <a:xfrm>
            <a:off x="118872" y="2185416"/>
            <a:ext cx="2212848" cy="0"/>
          </a:xfrm>
          <a:prstGeom prst="line">
            <a:avLst/>
          </a:prstGeom>
          <a:noFill/>
          <a:ln w="12700">
            <a:solidFill>
              <a:srgbClr val="000000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118872" y="2258568"/>
            <a:ext cx="137160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</a:t>
            </a:r>
            <a:endParaRPr lang="en-US" sz="750" dirty="0"/>
          </a:p>
        </p:txBody>
      </p:sp>
      <p:sp>
        <p:nvSpPr>
          <p:cNvPr id="13" name="Text 11"/>
          <p:cNvSpPr/>
          <p:nvPr/>
        </p:nvSpPr>
        <p:spPr>
          <a:xfrm>
            <a:off x="1490472" y="2258568"/>
            <a:ext cx="841248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</a:t>
            </a:r>
            <a:endParaRPr lang="en-US" sz="750" dirty="0"/>
          </a:p>
        </p:txBody>
      </p:sp>
      <p:sp>
        <p:nvSpPr>
          <p:cNvPr id="14" name="Shape 12"/>
          <p:cNvSpPr/>
          <p:nvPr/>
        </p:nvSpPr>
        <p:spPr>
          <a:xfrm>
            <a:off x="118872" y="2450592"/>
            <a:ext cx="2212848" cy="0"/>
          </a:xfrm>
          <a:prstGeom prst="line">
            <a:avLst/>
          </a:prstGeom>
          <a:noFill/>
          <a:ln w="6350">
            <a:solidFill>
              <a:srgbClr val="DDDDDD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118872" y="2542032"/>
            <a:ext cx="22128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Composición por Duración</a:t>
            </a:r>
            <a:endParaRPr lang="en-US" sz="800" dirty="0"/>
          </a:p>
        </p:txBody>
      </p:sp>
      <p:sp>
        <p:nvSpPr>
          <p:cNvPr id="16" name="Shape 14"/>
          <p:cNvSpPr/>
          <p:nvPr/>
        </p:nvSpPr>
        <p:spPr>
          <a:xfrm>
            <a:off x="118872" y="2724912"/>
            <a:ext cx="2212848" cy="0"/>
          </a:xfrm>
          <a:prstGeom prst="line">
            <a:avLst/>
          </a:prstGeom>
          <a:noFill/>
          <a:ln w="12700">
            <a:solidFill>
              <a:srgbClr val="000000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118872" y="2798064"/>
            <a:ext cx="137160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Hasta 30 días</a:t>
            </a:r>
            <a:endParaRPr lang="en-US" sz="750" dirty="0"/>
          </a:p>
        </p:txBody>
      </p:sp>
      <p:sp>
        <p:nvSpPr>
          <p:cNvPr id="18" name="Text 16"/>
          <p:cNvSpPr/>
          <p:nvPr/>
        </p:nvSpPr>
        <p:spPr>
          <a:xfrm>
            <a:off x="1490472" y="2798064"/>
            <a:ext cx="841248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13,67%</a:t>
            </a:r>
            <a:endParaRPr lang="en-US" sz="750" dirty="0"/>
          </a:p>
        </p:txBody>
      </p:sp>
      <p:sp>
        <p:nvSpPr>
          <p:cNvPr id="19" name="Text 17"/>
          <p:cNvSpPr/>
          <p:nvPr/>
        </p:nvSpPr>
        <p:spPr>
          <a:xfrm>
            <a:off x="118872" y="2990088"/>
            <a:ext cx="137160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Entre 31 y 90 días</a:t>
            </a:r>
            <a:endParaRPr lang="en-US" sz="750" dirty="0"/>
          </a:p>
        </p:txBody>
      </p:sp>
      <p:sp>
        <p:nvSpPr>
          <p:cNvPr id="20" name="Text 18"/>
          <p:cNvSpPr/>
          <p:nvPr/>
        </p:nvSpPr>
        <p:spPr>
          <a:xfrm>
            <a:off x="1490472" y="2990088"/>
            <a:ext cx="841248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12,68%</a:t>
            </a:r>
            <a:endParaRPr lang="en-US" sz="750" dirty="0"/>
          </a:p>
        </p:txBody>
      </p:sp>
      <p:sp>
        <p:nvSpPr>
          <p:cNvPr id="21" name="Text 19"/>
          <p:cNvSpPr/>
          <p:nvPr/>
        </p:nvSpPr>
        <p:spPr>
          <a:xfrm>
            <a:off x="118872" y="3182112"/>
            <a:ext cx="137160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Entre 91 y 120 días</a:t>
            </a:r>
            <a:endParaRPr lang="en-US" sz="750" dirty="0"/>
          </a:p>
        </p:txBody>
      </p:sp>
      <p:sp>
        <p:nvSpPr>
          <p:cNvPr id="22" name="Text 20"/>
          <p:cNvSpPr/>
          <p:nvPr/>
        </p:nvSpPr>
        <p:spPr>
          <a:xfrm>
            <a:off x="1490472" y="3182112"/>
            <a:ext cx="841248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73,65%</a:t>
            </a:r>
            <a:endParaRPr lang="en-US" sz="750" dirty="0"/>
          </a:p>
        </p:txBody>
      </p:sp>
      <p:sp>
        <p:nvSpPr>
          <p:cNvPr id="23" name="Text 21"/>
          <p:cNvSpPr/>
          <p:nvPr/>
        </p:nvSpPr>
        <p:spPr>
          <a:xfrm>
            <a:off x="118872" y="3374136"/>
            <a:ext cx="137160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Entre 1 y 2 años</a:t>
            </a:r>
            <a:endParaRPr lang="en-US" sz="750" dirty="0"/>
          </a:p>
        </p:txBody>
      </p:sp>
      <p:sp>
        <p:nvSpPr>
          <p:cNvPr id="24" name="Text 22"/>
          <p:cNvSpPr/>
          <p:nvPr/>
        </p:nvSpPr>
        <p:spPr>
          <a:xfrm>
            <a:off x="1490472" y="3374136"/>
            <a:ext cx="841248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0,00%</a:t>
            </a:r>
            <a:endParaRPr lang="en-US" sz="750" dirty="0"/>
          </a:p>
        </p:txBody>
      </p:sp>
      <p:sp>
        <p:nvSpPr>
          <p:cNvPr id="25" name="Text 23"/>
          <p:cNvSpPr/>
          <p:nvPr/>
        </p:nvSpPr>
        <p:spPr>
          <a:xfrm>
            <a:off x="2606040" y="137160"/>
            <a:ext cx="4818888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Glosario</a:t>
            </a:r>
            <a:endParaRPr lang="en-US" sz="1300" dirty="0"/>
          </a:p>
        </p:txBody>
      </p:sp>
      <p:sp>
        <p:nvSpPr>
          <p:cNvPr id="26" name="Shape 24"/>
          <p:cNvSpPr/>
          <p:nvPr/>
        </p:nvSpPr>
        <p:spPr>
          <a:xfrm>
            <a:off x="2606040" y="411480"/>
            <a:ext cx="4818888" cy="0"/>
          </a:xfrm>
          <a:prstGeom prst="line">
            <a:avLst/>
          </a:prstGeom>
          <a:noFill/>
          <a:ln w="19050">
            <a:solidFill>
              <a:srgbClr val="00000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2606040" y="502920"/>
            <a:ext cx="481888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de Mercado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Este es el riesgo de una variación adversa en el precio o tasa de mercado en los instrumentos en que invierte el Fondo</a:t>
            </a:r>
            <a:endParaRPr lang="en-US" sz="700" dirty="0"/>
          </a:p>
        </p:txBody>
      </p:sp>
      <p:sp>
        <p:nvSpPr>
          <p:cNvPr id="28" name="Text 26"/>
          <p:cNvSpPr/>
          <p:nvPr/>
        </p:nvSpPr>
        <p:spPr>
          <a:xfrm>
            <a:off x="2606040" y="923544"/>
            <a:ext cx="481888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de Crédito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 la posible pérdida que se asume como consecuencia del incumplimiento de las obligaciones directas, indirectas o de derivados que conllevan al no pago parcial, total o falta de oportunidad del pago de los emisores de los instrumentos en que invierte el Fondo y que pudieran ocasionar una pérdida financiera.</a:t>
            </a:r>
            <a:endParaRPr lang="en-US" sz="700" dirty="0"/>
          </a:p>
        </p:txBody>
      </p:sp>
      <p:sp>
        <p:nvSpPr>
          <p:cNvPr id="29" name="Text 27"/>
          <p:cNvSpPr/>
          <p:nvPr/>
        </p:nvSpPr>
        <p:spPr>
          <a:xfrm>
            <a:off x="2606040" y="1344168"/>
            <a:ext cx="481888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de Liquidez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asociado a la capacidad de generación de recursos del Fondo para cumplir con sus obligaciones de rescate o vencimiento del mismo.</a:t>
            </a:r>
            <a:endParaRPr lang="en-US" sz="700" dirty="0"/>
          </a:p>
        </p:txBody>
      </p:sp>
      <p:sp>
        <p:nvSpPr>
          <p:cNvPr id="30" name="Text 28"/>
          <p:cNvSpPr/>
          <p:nvPr/>
        </p:nvSpPr>
        <p:spPr>
          <a:xfrm>
            <a:off x="2606040" y="1764792"/>
            <a:ext cx="481888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Profundidad de Mercado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Corresponde a la posibilidad de comprar o vender un activo financiero al valor de mercado en un período de tiempo acorde a las características del instrumento. Períodos de alta volatilidad de mercado afectan negativamente estos tiempos.</a:t>
            </a:r>
            <a:endParaRPr lang="en-US" sz="700" dirty="0"/>
          </a:p>
        </p:txBody>
      </p:sp>
      <p:sp>
        <p:nvSpPr>
          <p:cNvPr id="31" name="Text 29"/>
          <p:cNvSpPr/>
          <p:nvPr/>
        </p:nvSpPr>
        <p:spPr>
          <a:xfrm>
            <a:off x="2606040" y="2185416"/>
            <a:ext cx="481888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de Tasa de interés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Exposición a pérdidas ocasionadas por cambios adversos en las tasas de interés de mercado y que afecten el valor de los instrumentos, contratos y demás operaciones registradas en el balance.</a:t>
            </a:r>
            <a:endParaRPr lang="en-US" sz="700" dirty="0"/>
          </a:p>
        </p:txBody>
      </p:sp>
      <p:sp>
        <p:nvSpPr>
          <p:cNvPr id="32" name="Text 30"/>
          <p:cNvSpPr/>
          <p:nvPr/>
        </p:nvSpPr>
        <p:spPr>
          <a:xfrm>
            <a:off x="2606040" y="2606040"/>
            <a:ext cx="481888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de Moneda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 la exposición a pérdidas ocasionadas por cambios adversos en el valor en moneda nacional de las monedas extranjeras que están expresados a los instrumentos, contratos y demás operaciones del balance del Fondo.</a:t>
            </a:r>
            <a:endParaRPr lang="en-US" sz="700" dirty="0"/>
          </a:p>
        </p:txBody>
      </p:sp>
      <p:sp>
        <p:nvSpPr>
          <p:cNvPr id="33" name="Text 31"/>
          <p:cNvSpPr/>
          <p:nvPr/>
        </p:nvSpPr>
        <p:spPr>
          <a:xfrm>
            <a:off x="2606040" y="3026664"/>
            <a:ext cx="481888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Sectorial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Este riesgo está asociado a condiciones de mercado adversas que pueden afectar a un sector industrial en particular y por ende la rentabilidad del Fondo.</a:t>
            </a:r>
            <a:endParaRPr lang="en-US" sz="700" dirty="0"/>
          </a:p>
        </p:txBody>
      </p:sp>
      <p:sp>
        <p:nvSpPr>
          <p:cNvPr id="34" name="Text 32"/>
          <p:cNvSpPr/>
          <p:nvPr/>
        </p:nvSpPr>
        <p:spPr>
          <a:xfrm>
            <a:off x="2606040" y="3447288"/>
            <a:ext cx="481888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Gastos del fondo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Corresponden a los gastos directos e indirectos necesarios para el correcto funcionamiento del fondo los que están detallados en el Reglamento Interno</a:t>
            </a:r>
            <a:endParaRPr lang="en-US" sz="700" dirty="0"/>
          </a:p>
        </p:txBody>
      </p:sp>
      <p:sp>
        <p:nvSpPr>
          <p:cNvPr id="35" name="Text 33"/>
          <p:cNvSpPr/>
          <p:nvPr/>
        </p:nvSpPr>
        <p:spPr>
          <a:xfrm>
            <a:off x="2606040" y="3867912"/>
            <a:ext cx="481888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Forma de Ingreso y Pago del Fondo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moneda en que el inversionista entra al fondo es aportando pesos chilenos, y al rescate de las cuotas, el fondo le entrega pesos chilenos.</a:t>
            </a:r>
            <a:endParaRPr lang="en-US" sz="700" dirty="0"/>
          </a:p>
        </p:txBody>
      </p:sp>
      <p:sp>
        <p:nvSpPr>
          <p:cNvPr id="36" name="Shape 34"/>
          <p:cNvSpPr/>
          <p:nvPr/>
        </p:nvSpPr>
        <p:spPr>
          <a:xfrm>
            <a:off x="2606040" y="4361688"/>
            <a:ext cx="4818888" cy="0"/>
          </a:xfrm>
          <a:prstGeom prst="line">
            <a:avLst/>
          </a:prstGeom>
          <a:noFill/>
          <a:ln w="6350">
            <a:solidFill>
              <a:srgbClr val="DDDDDD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2606040" y="4489704"/>
            <a:ext cx="481888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Disclaimer</a:t>
            </a:r>
            <a:endParaRPr lang="en-US" sz="1300" dirty="0"/>
          </a:p>
        </p:txBody>
      </p:sp>
      <p:sp>
        <p:nvSpPr>
          <p:cNvPr id="38" name="Shape 36"/>
          <p:cNvSpPr/>
          <p:nvPr/>
        </p:nvSpPr>
        <p:spPr>
          <a:xfrm>
            <a:off x="2606040" y="4745736"/>
            <a:ext cx="4818888" cy="0"/>
          </a:xfrm>
          <a:prstGeom prst="line">
            <a:avLst/>
          </a:prstGeom>
          <a:noFill/>
          <a:ln w="19050">
            <a:solidFill>
              <a:srgbClr val="000000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2606040" y="4837176"/>
            <a:ext cx="481888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5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Conforme a la Ley Única de Fondos, las administradoras de fondos de inversión privados están sujetas a las obligaciones de información establecidas por la Comisión para el Mercado Financiero. Tales fondos no están sometidos a fiscalización de la Comisión y no hacemos oferta pública de sus cuotas.</a:t>
            </a:r>
            <a:endParaRPr lang="en-US" sz="7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</vt:i4>
      </vt:variant>
    </vt:vector>
  </HeadingPairs>
  <TitlesOfParts>
    <vt:vector size="5" baseType="lpstr">
      <vt:lpstr>Arial</vt:lpstr>
      <vt:lpstr>Calibri</vt:lpstr>
      <vt:lpstr>Office Theme</vt:lpstr>
      <vt:lpstr>Slide 1</vt:lpstr>
      <vt:lpstr>Slide 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2026-05-18T17:46:37Z</dcterms:created>
  <dcterms:modified xsi:type="dcterms:W3CDTF">2026-05-18T17:46:37Z</dcterms:modified>
</cp:coreProperties>
</file>