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LIQUIDEZ RESERVA DÓLAR</c:v>
                </c:pt>
              </c:strCache>
            </c:strRef>
          </c:tx>
          <c:spPr>
            <a:solidFill>
              <a:srgbClr val="999999"/>
            </a:solidFill>
            <a:ln w="15240" cap="flat">
              <a:solidFill>
                <a:srgbClr val="9999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Jan 2025</c:v>
                  </c:pt>
                  <c:pt idx="1">
                    <c:v>Feb 2025</c:v>
                  </c:pt>
                  <c:pt idx="2">
                    <c:v>Mar 2025</c:v>
                  </c:pt>
                  <c:pt idx="3">
                    <c:v>Apr 2025</c:v>
                  </c:pt>
                  <c:pt idx="4">
                    <c:v>May 2025</c:v>
                  </c:pt>
                  <c:pt idx="5">
                    <c:v>Jun 2025</c:v>
                  </c:pt>
                  <c:pt idx="6">
                    <c:v>Jul 2025</c:v>
                  </c:pt>
                  <c:pt idx="7">
                    <c:v>Aug 2025</c:v>
                  </c:pt>
                  <c:pt idx="8">
                    <c:v>Sep 2025</c:v>
                  </c:pt>
                  <c:pt idx="9">
                    <c:v>Oct 2025</c:v>
                  </c:pt>
                  <c:pt idx="10">
                    <c:v>Nov 2025</c:v>
                  </c:pt>
                  <c:pt idx="11">
                    <c:v>Dec 2025</c:v>
                  </c:pt>
                  <c:pt idx="12">
                    <c:v>Jan 2026</c:v>
                  </c:pt>
                  <c:pt idx="13">
                    <c:v>Feb 2026</c:v>
                  </c:pt>
                  <c:pt idx="14">
                    <c:v>Mar 2026</c:v>
                  </c:pt>
                  <c:pt idx="15">
                    <c:v>Apr 2026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100</c:v>
                </c:pt>
                <c:pt idx="1">
                  <c:v>102.39</c:v>
                </c:pt>
                <c:pt idx="2">
                  <c:v>102.61</c:v>
                </c:pt>
                <c:pt idx="3">
                  <c:v>102.9</c:v>
                </c:pt>
                <c:pt idx="4">
                  <c:v>103.05</c:v>
                </c:pt>
                <c:pt idx="5">
                  <c:v>103.22</c:v>
                </c:pt>
                <c:pt idx="6">
                  <c:v>103.74</c:v>
                </c:pt>
                <c:pt idx="7">
                  <c:v>104.23</c:v>
                </c:pt>
                <c:pt idx="8">
                  <c:v>104.66</c:v>
                </c:pt>
                <c:pt idx="9">
                  <c:v>105.16</c:v>
                </c:pt>
                <c:pt idx="10">
                  <c:v>105.61</c:v>
                </c:pt>
                <c:pt idx="11">
                  <c:v>106.13</c:v>
                </c:pt>
                <c:pt idx="12">
                  <c:v>106.63</c:v>
                </c:pt>
                <c:pt idx="13">
                  <c:v>106.99</c:v>
                </c:pt>
                <c:pt idx="14">
                  <c:v>107.48</c:v>
                </c:pt>
                <c:pt idx="15">
                  <c:v>107.93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Competencia Relevante (*)</c:v>
                </c:pt>
              </c:strCache>
            </c:strRef>
          </c:tx>
          <c:spPr>
            <a:solidFill>
              <a:srgbClr val="000000"/>
            </a:solidFill>
            <a:ln w="1524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Jan 2025</c:v>
                  </c:pt>
                  <c:pt idx="1">
                    <c:v>Feb 2025</c:v>
                  </c:pt>
                  <c:pt idx="2">
                    <c:v>Mar 2025</c:v>
                  </c:pt>
                  <c:pt idx="3">
                    <c:v>Apr 2025</c:v>
                  </c:pt>
                  <c:pt idx="4">
                    <c:v>May 2025</c:v>
                  </c:pt>
                  <c:pt idx="5">
                    <c:v>Jun 2025</c:v>
                  </c:pt>
                  <c:pt idx="6">
                    <c:v>Jul 2025</c:v>
                  </c:pt>
                  <c:pt idx="7">
                    <c:v>Aug 2025</c:v>
                  </c:pt>
                  <c:pt idx="8">
                    <c:v>Sep 2025</c:v>
                  </c:pt>
                  <c:pt idx="9">
                    <c:v>Oct 2025</c:v>
                  </c:pt>
                  <c:pt idx="10">
                    <c:v>Nov 2025</c:v>
                  </c:pt>
                  <c:pt idx="11">
                    <c:v>Dec 2025</c:v>
                  </c:pt>
                  <c:pt idx="12">
                    <c:v>Jan 2026</c:v>
                  </c:pt>
                  <c:pt idx="13">
                    <c:v>Feb 2026</c:v>
                  </c:pt>
                  <c:pt idx="14">
                    <c:v>Mar 2026</c:v>
                  </c:pt>
                  <c:pt idx="15">
                    <c:v>Apr 2026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100</c:v>
                </c:pt>
                <c:pt idx="1">
                  <c:v>100.28</c:v>
                </c:pt>
                <c:pt idx="2">
                  <c:v>100.57</c:v>
                </c:pt>
                <c:pt idx="3">
                  <c:v>100.86</c:v>
                </c:pt>
                <c:pt idx="4">
                  <c:v>101.16</c:v>
                </c:pt>
                <c:pt idx="5">
                  <c:v>101.44</c:v>
                </c:pt>
                <c:pt idx="6">
                  <c:v>101.75</c:v>
                </c:pt>
                <c:pt idx="7">
                  <c:v>102.05</c:v>
                </c:pt>
                <c:pt idx="8">
                  <c:v>102.35</c:v>
                </c:pt>
                <c:pt idx="9">
                  <c:v>102.65</c:v>
                </c:pt>
                <c:pt idx="10">
                  <c:v>102.94</c:v>
                </c:pt>
                <c:pt idx="11">
                  <c:v>103.24</c:v>
                </c:pt>
                <c:pt idx="12">
                  <c:v>103.53</c:v>
                </c:pt>
                <c:pt idx="13">
                  <c:v>103.8</c:v>
                </c:pt>
                <c:pt idx="14">
                  <c:v>104.08</c:v>
                </c:pt>
                <c:pt idx="15">
                  <c:v>104.35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97"/>
        </c:scaling>
        <c:delete val="0"/>
        <c:axPos val="l"/>
        <c:majorGridlines>
          <c:spPr>
            <a:ln w="381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737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6459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Reserva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" y="142646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" y="1828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8872" y="2011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" y="20756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Gestion Patrimonial S.A.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8872" y="224942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Fondo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51560" y="224942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76.637.335-6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8872" y="242316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18872" y="259689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Fondo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51560" y="25968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Inversión Privado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8872" y="2770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Inicio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51560" y="277063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Febrero 2025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8872" y="294436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51560" y="29443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Cámara Promedio (ICP)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8872" y="311810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Rescatable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051560" y="311810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8872" y="329184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Rescate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51560" y="32918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tardar 15 días corridos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8872" y="34655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051560" y="34655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 Crédito - Liquidez - Tasa de interés - Derivados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8872" y="3730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051560" y="37307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valor entre 0,25% anual + IVA y 50% de rentabilidad + IVA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8872" y="399592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051560" y="3995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 C. de Bolsa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18872" y="4169664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" y="426110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8872" y="4443984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" y="450799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los recursos del fondo en instrumentos de deuda de corto y mediano plazo, en una cartera diversificada, obteniendo una rentabilidad igual o superior al ICP.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18872" y="5212080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" y="530352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8872" y="548640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" y="555040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esperada del Fip Vantrust Liquidez Reserva Dolar, es la tasa de política monetaria promedio del Banco Central de Chile.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18872" y="620877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" y="630021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8872" y="648309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" y="654710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Dirigida a empresas y personas que buscan invertir sus excedentes de caja con una rentabilidad de corto plazo y baja tolerancia al riesgo.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Portafolio Manager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6040" y="502920"/>
            <a:ext cx="4818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USD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06040" y="2240280"/>
            <a:ext cx="4818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Reserva Dolar</a:t>
            </a:r>
            <a:endParaRPr lang="en-US" sz="75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2606040" y="2395728"/>
          <a:ext cx="4818888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7" name="Text 44"/>
          <p:cNvSpPr/>
          <p:nvPr/>
        </p:nvSpPr>
        <p:spPr>
          <a:xfrm>
            <a:off x="2606040" y="4242816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Rentabilidad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2606040" y="4498848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4572000"/>
          <a:ext cx="4818888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566928"/>
                <a:gridCol w="658368"/>
                <a:gridCol w="658368"/>
                <a:gridCol w="566928"/>
                <a:gridCol w="59436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 2026 (*)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RESERVA DÓLAR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Text 46"/>
          <p:cNvSpPr/>
          <p:nvPr/>
        </p:nvSpPr>
        <p:spPr>
          <a:xfrm>
            <a:off x="2606040" y="5349240"/>
            <a:ext cx="4818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*Valores correspondientes a la rentabilidad anualizada, no acumulada</a:t>
            </a:r>
            <a:endParaRPr lang="en-US" sz="600" dirty="0"/>
          </a:p>
        </p:txBody>
      </p:sp>
      <p:sp>
        <p:nvSpPr>
          <p:cNvPr id="51" name="Shape 47"/>
          <p:cNvSpPr/>
          <p:nvPr/>
        </p:nvSpPr>
        <p:spPr>
          <a:xfrm>
            <a:off x="2606040" y="5513832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5577840"/>
          <a:ext cx="4818888" cy="914400"/>
        </p:xfrm>
        <a:graphic>
          <a:graphicData uri="http://schemas.openxmlformats.org/drawingml/2006/table">
            <a:tbl>
              <a:tblPr/>
              <a:tblGrid>
                <a:gridCol w="201168"/>
                <a:gridCol w="804672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301752"/>
              </a:tblGrid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RESERVA DÓLAR</a:t>
                      </a: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RESERVA DÓLAR</a:t>
                      </a: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02412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" y="146304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Moneda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8872" y="164592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" y="171907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90472" y="171907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100,00%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8872" y="191109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" y="200253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Instrumento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8872" y="218541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" y="225856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90472" y="225856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18872" y="2450592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" y="25420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Duración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8872" y="2724912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" y="2798064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días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90472" y="2798064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17,57%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8872" y="299008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31 y 90 días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90472" y="299008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61,08%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8872" y="318211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91 y 120 días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90472" y="318211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21,35%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8872" y="337413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 y 2 años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90472" y="3374136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50292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riesgo de una variación adversa en el precio o tasa de mercado en los instrumentos en que invierte el Fondo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06040" y="92354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606040" y="134416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Liquidez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a la capacidad de generación de recursos del Fondo para cumplir con sus obligaciones de rescate o vencimiento del mismo.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606040" y="176479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Profundidad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la posibilidad de comprar o vender un activo financiero al valor de mercado en un período de tiempo acorde a las características del instrumento. Períodos de alta volatilidad de mercado afectan negativamente estos tiempos.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606040" y="2185416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Tasa de interés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pérdidas ocasionadas por cambios adversos en las tasas de interés de mercado y que afecten el valor de los instrumentos, contratos y demás operaciones registradas en el balance.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606040" y="260604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Moneda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06040" y="302666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Sectorial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riesgo está asociado a condiciones de mercado adversas que pueden afectar a un sector industrial en particular y por ende la rentabilidad del Fondo.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06040" y="344728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 a los gastos directos e indirectos necesarios para el correcto funcionamiento del fondo los que están detallados en el Reglamento Interno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06040" y="386791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Ingreso y Pago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moneda en que el inversionista entra al fondo es aportando pesos chilenos, y al rescate de las cuotas, el fondo le entrega pesos chilenos.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606040" y="4361688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4489704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606040" y="4745736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4837176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2026-05-19T11:59:08Z</dcterms:created>
  <dcterms:modified xsi:type="dcterms:W3CDTF">2026-05-19T11:59:08Z</dcterms:modified>
</cp:coreProperties>
</file>