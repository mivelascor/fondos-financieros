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8" r:id="rId2"/>
    <p:sldId id="257" r:id="rId3"/>
  </p:sldIdLst>
  <p:sldSz cx="8851900" cy="11858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86EE34-FED3-9153-BB57-FAE40BEF2E88}" v="1" dt="2026-03-03T20:18:10.9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03"/>
    <p:restoredTop sz="96197"/>
  </p:normalViewPr>
  <p:slideViewPr>
    <p:cSldViewPr snapToGrid="0">
      <p:cViewPr>
        <p:scale>
          <a:sx n="100" d="100"/>
          <a:sy n="100" d="100"/>
        </p:scale>
        <p:origin x="5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as Cabezas" userId="S::nicolas.cabezas@vantrust.cl::858cceca-9205-4b14-b063-d9dbf783859e" providerId="AD" clId="Web-{6B86EE34-FED3-9153-BB57-FAE40BEF2E88}"/>
    <pc:docChg chg="modSld">
      <pc:chgData name="Nicolas Cabezas" userId="S::nicolas.cabezas@vantrust.cl::858cceca-9205-4b14-b063-d9dbf783859e" providerId="AD" clId="Web-{6B86EE34-FED3-9153-BB57-FAE40BEF2E88}" dt="2026-03-03T20:18:10.944" v="0"/>
      <pc:docMkLst>
        <pc:docMk/>
      </pc:docMkLst>
      <pc:sldChg chg="delSp">
        <pc:chgData name="Nicolas Cabezas" userId="S::nicolas.cabezas@vantrust.cl::858cceca-9205-4b14-b063-d9dbf783859e" providerId="AD" clId="Web-{6B86EE34-FED3-9153-BB57-FAE40BEF2E88}" dt="2026-03-03T20:18:10.944" v="0"/>
        <pc:sldMkLst>
          <pc:docMk/>
          <pc:sldMk cId="1784530740" sldId="258"/>
        </pc:sldMkLst>
        <pc:graphicFrameChg chg="del">
          <ac:chgData name="Nicolas Cabezas" userId="S::nicolas.cabezas@vantrust.cl::858cceca-9205-4b14-b063-d9dbf783859e" providerId="AD" clId="Web-{6B86EE34-FED3-9153-BB57-FAE40BEF2E88}" dt="2026-03-03T20:18:10.944" v="0"/>
          <ac:graphicFrameMkLst>
            <pc:docMk/>
            <pc:sldMk cId="1784530740" sldId="258"/>
            <ac:graphicFrameMk id="17" creationId="{0F0156AB-F19D-924E-FD68-DFC446F5ED74}"/>
          </ac:graphicFrameMkLst>
        </pc:graphicFrame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3893" y="1940754"/>
            <a:ext cx="7524115" cy="4128558"/>
          </a:xfrm>
        </p:spPr>
        <p:txBody>
          <a:bodyPr anchor="b"/>
          <a:lstStyle>
            <a:lvl1pPr algn="ctr">
              <a:defRPr sz="5808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6488" y="6228524"/>
            <a:ext cx="6638925" cy="2863089"/>
          </a:xfrm>
        </p:spPr>
        <p:txBody>
          <a:bodyPr/>
          <a:lstStyle>
            <a:lvl1pPr marL="0" indent="0" algn="ctr">
              <a:buNone/>
              <a:defRPr sz="2323"/>
            </a:lvl1pPr>
            <a:lvl2pPr marL="442599" indent="0" algn="ctr">
              <a:buNone/>
              <a:defRPr sz="1936"/>
            </a:lvl2pPr>
            <a:lvl3pPr marL="885199" indent="0" algn="ctr">
              <a:buNone/>
              <a:defRPr sz="1743"/>
            </a:lvl3pPr>
            <a:lvl4pPr marL="1327798" indent="0" algn="ctr">
              <a:buNone/>
              <a:defRPr sz="1549"/>
            </a:lvl4pPr>
            <a:lvl5pPr marL="1770397" indent="0" algn="ctr">
              <a:buNone/>
              <a:defRPr sz="1549"/>
            </a:lvl5pPr>
            <a:lvl6pPr marL="2212997" indent="0" algn="ctr">
              <a:buNone/>
              <a:defRPr sz="1549"/>
            </a:lvl6pPr>
            <a:lvl7pPr marL="2655596" indent="0" algn="ctr">
              <a:buNone/>
              <a:defRPr sz="1549"/>
            </a:lvl7pPr>
            <a:lvl8pPr marL="3098195" indent="0" algn="ctr">
              <a:buNone/>
              <a:defRPr sz="1549"/>
            </a:lvl8pPr>
            <a:lvl9pPr marL="3540795" indent="0" algn="ctr">
              <a:buNone/>
              <a:defRPr sz="1549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97243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91608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960" y="2956426"/>
            <a:ext cx="7634764" cy="4932857"/>
          </a:xfrm>
        </p:spPr>
        <p:txBody>
          <a:bodyPr anchor="b"/>
          <a:lstStyle>
            <a:lvl1pPr>
              <a:defRPr sz="5808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3960" y="7935951"/>
            <a:ext cx="7634764" cy="2594073"/>
          </a:xfrm>
        </p:spPr>
        <p:txBody>
          <a:bodyPr/>
          <a:lstStyle>
            <a:lvl1pPr marL="0" indent="0">
              <a:buNone/>
              <a:defRPr sz="2323">
                <a:solidFill>
                  <a:schemeClr val="tx1"/>
                </a:solidFill>
              </a:defRPr>
            </a:lvl1pPr>
            <a:lvl2pPr marL="442599" indent="0">
              <a:buNone/>
              <a:defRPr sz="1936">
                <a:solidFill>
                  <a:schemeClr val="tx1">
                    <a:tint val="75000"/>
                  </a:schemeClr>
                </a:solidFill>
              </a:defRPr>
            </a:lvl2pPr>
            <a:lvl3pPr marL="885199" indent="0">
              <a:buNone/>
              <a:defRPr sz="1743">
                <a:solidFill>
                  <a:schemeClr val="tx1">
                    <a:tint val="75000"/>
                  </a:schemeClr>
                </a:solidFill>
              </a:defRPr>
            </a:lvl3pPr>
            <a:lvl4pPr marL="1327798" indent="0">
              <a:buNone/>
              <a:defRPr sz="1549">
                <a:solidFill>
                  <a:schemeClr val="tx1">
                    <a:tint val="75000"/>
                  </a:schemeClr>
                </a:solidFill>
              </a:defRPr>
            </a:lvl4pPr>
            <a:lvl5pPr marL="1770397" indent="0">
              <a:buNone/>
              <a:defRPr sz="1549">
                <a:solidFill>
                  <a:schemeClr val="tx1">
                    <a:tint val="75000"/>
                  </a:schemeClr>
                </a:solidFill>
              </a:defRPr>
            </a:lvl5pPr>
            <a:lvl6pPr marL="2212997" indent="0">
              <a:buNone/>
              <a:defRPr sz="1549">
                <a:solidFill>
                  <a:schemeClr val="tx1">
                    <a:tint val="75000"/>
                  </a:schemeClr>
                </a:solidFill>
              </a:defRPr>
            </a:lvl6pPr>
            <a:lvl7pPr marL="2655596" indent="0">
              <a:buNone/>
              <a:defRPr sz="1549">
                <a:solidFill>
                  <a:schemeClr val="tx1">
                    <a:tint val="75000"/>
                  </a:schemeClr>
                </a:solidFill>
              </a:defRPr>
            </a:lvl7pPr>
            <a:lvl8pPr marL="3098195" indent="0">
              <a:buNone/>
              <a:defRPr sz="1549">
                <a:solidFill>
                  <a:schemeClr val="tx1">
                    <a:tint val="75000"/>
                  </a:schemeClr>
                </a:solidFill>
              </a:defRPr>
            </a:lvl8pPr>
            <a:lvl9pPr marL="3540795" indent="0">
              <a:buNone/>
              <a:defRPr sz="154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840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568" y="3156811"/>
            <a:ext cx="3762058" cy="75241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81275" y="3156811"/>
            <a:ext cx="3762058" cy="75241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25069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723" y="631366"/>
            <a:ext cx="7634764" cy="2292119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723" y="2907012"/>
            <a:ext cx="3744768" cy="1424681"/>
          </a:xfrm>
        </p:spPr>
        <p:txBody>
          <a:bodyPr anchor="b"/>
          <a:lstStyle>
            <a:lvl1pPr marL="0" indent="0">
              <a:buNone/>
              <a:defRPr sz="2323" b="1"/>
            </a:lvl1pPr>
            <a:lvl2pPr marL="442599" indent="0">
              <a:buNone/>
              <a:defRPr sz="1936" b="1"/>
            </a:lvl2pPr>
            <a:lvl3pPr marL="885199" indent="0">
              <a:buNone/>
              <a:defRPr sz="1743" b="1"/>
            </a:lvl3pPr>
            <a:lvl4pPr marL="1327798" indent="0">
              <a:buNone/>
              <a:defRPr sz="1549" b="1"/>
            </a:lvl4pPr>
            <a:lvl5pPr marL="1770397" indent="0">
              <a:buNone/>
              <a:defRPr sz="1549" b="1"/>
            </a:lvl5pPr>
            <a:lvl6pPr marL="2212997" indent="0">
              <a:buNone/>
              <a:defRPr sz="1549" b="1"/>
            </a:lvl6pPr>
            <a:lvl7pPr marL="2655596" indent="0">
              <a:buNone/>
              <a:defRPr sz="1549" b="1"/>
            </a:lvl7pPr>
            <a:lvl8pPr marL="3098195" indent="0">
              <a:buNone/>
              <a:defRPr sz="1549" b="1"/>
            </a:lvl8pPr>
            <a:lvl9pPr marL="3540795" indent="0">
              <a:buNone/>
              <a:defRPr sz="1549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723" y="4331692"/>
            <a:ext cx="3744768" cy="637126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1275" y="2907012"/>
            <a:ext cx="3763210" cy="1424681"/>
          </a:xfrm>
        </p:spPr>
        <p:txBody>
          <a:bodyPr anchor="b"/>
          <a:lstStyle>
            <a:lvl1pPr marL="0" indent="0">
              <a:buNone/>
              <a:defRPr sz="2323" b="1"/>
            </a:lvl1pPr>
            <a:lvl2pPr marL="442599" indent="0">
              <a:buNone/>
              <a:defRPr sz="1936" b="1"/>
            </a:lvl2pPr>
            <a:lvl3pPr marL="885199" indent="0">
              <a:buNone/>
              <a:defRPr sz="1743" b="1"/>
            </a:lvl3pPr>
            <a:lvl4pPr marL="1327798" indent="0">
              <a:buNone/>
              <a:defRPr sz="1549" b="1"/>
            </a:lvl4pPr>
            <a:lvl5pPr marL="1770397" indent="0">
              <a:buNone/>
              <a:defRPr sz="1549" b="1"/>
            </a:lvl5pPr>
            <a:lvl6pPr marL="2212997" indent="0">
              <a:buNone/>
              <a:defRPr sz="1549" b="1"/>
            </a:lvl6pPr>
            <a:lvl7pPr marL="2655596" indent="0">
              <a:buNone/>
              <a:defRPr sz="1549" b="1"/>
            </a:lvl7pPr>
            <a:lvl8pPr marL="3098195" indent="0">
              <a:buNone/>
              <a:defRPr sz="1549" b="1"/>
            </a:lvl8pPr>
            <a:lvl9pPr marL="3540795" indent="0">
              <a:buNone/>
              <a:defRPr sz="1549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81275" y="4331692"/>
            <a:ext cx="3763210" cy="637126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52208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21550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02424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723" y="790576"/>
            <a:ext cx="2854968" cy="2767013"/>
          </a:xfrm>
        </p:spPr>
        <p:txBody>
          <a:bodyPr anchor="b"/>
          <a:lstStyle>
            <a:lvl1pPr>
              <a:defRPr sz="3098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63210" y="1707426"/>
            <a:ext cx="4481275" cy="8427310"/>
          </a:xfrm>
        </p:spPr>
        <p:txBody>
          <a:bodyPr/>
          <a:lstStyle>
            <a:lvl1pPr>
              <a:defRPr sz="3098"/>
            </a:lvl1pPr>
            <a:lvl2pPr>
              <a:defRPr sz="2711"/>
            </a:lvl2pPr>
            <a:lvl3pPr>
              <a:defRPr sz="2323"/>
            </a:lvl3pPr>
            <a:lvl4pPr>
              <a:defRPr sz="1936"/>
            </a:lvl4pPr>
            <a:lvl5pPr>
              <a:defRPr sz="1936"/>
            </a:lvl5pPr>
            <a:lvl6pPr>
              <a:defRPr sz="1936"/>
            </a:lvl6pPr>
            <a:lvl7pPr>
              <a:defRPr sz="1936"/>
            </a:lvl7pPr>
            <a:lvl8pPr>
              <a:defRPr sz="1936"/>
            </a:lvl8pPr>
            <a:lvl9pPr>
              <a:defRPr sz="1936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723" y="3557589"/>
            <a:ext cx="2854968" cy="6590871"/>
          </a:xfrm>
        </p:spPr>
        <p:txBody>
          <a:bodyPr/>
          <a:lstStyle>
            <a:lvl1pPr marL="0" indent="0">
              <a:buNone/>
              <a:defRPr sz="1549"/>
            </a:lvl1pPr>
            <a:lvl2pPr marL="442599" indent="0">
              <a:buNone/>
              <a:defRPr sz="1355"/>
            </a:lvl2pPr>
            <a:lvl3pPr marL="885199" indent="0">
              <a:buNone/>
              <a:defRPr sz="1162"/>
            </a:lvl3pPr>
            <a:lvl4pPr marL="1327798" indent="0">
              <a:buNone/>
              <a:defRPr sz="968"/>
            </a:lvl4pPr>
            <a:lvl5pPr marL="1770397" indent="0">
              <a:buNone/>
              <a:defRPr sz="968"/>
            </a:lvl5pPr>
            <a:lvl6pPr marL="2212997" indent="0">
              <a:buNone/>
              <a:defRPr sz="968"/>
            </a:lvl6pPr>
            <a:lvl7pPr marL="2655596" indent="0">
              <a:buNone/>
              <a:defRPr sz="968"/>
            </a:lvl7pPr>
            <a:lvl8pPr marL="3098195" indent="0">
              <a:buNone/>
              <a:defRPr sz="968"/>
            </a:lvl8pPr>
            <a:lvl9pPr marL="3540795" indent="0">
              <a:buNone/>
              <a:defRPr sz="968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25860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723" y="790576"/>
            <a:ext cx="2854968" cy="2767013"/>
          </a:xfrm>
        </p:spPr>
        <p:txBody>
          <a:bodyPr anchor="b"/>
          <a:lstStyle>
            <a:lvl1pPr>
              <a:defRPr sz="3098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763210" y="1707426"/>
            <a:ext cx="4481275" cy="8427310"/>
          </a:xfrm>
        </p:spPr>
        <p:txBody>
          <a:bodyPr anchor="t"/>
          <a:lstStyle>
            <a:lvl1pPr marL="0" indent="0">
              <a:buNone/>
              <a:defRPr sz="3098"/>
            </a:lvl1pPr>
            <a:lvl2pPr marL="442599" indent="0">
              <a:buNone/>
              <a:defRPr sz="2711"/>
            </a:lvl2pPr>
            <a:lvl3pPr marL="885199" indent="0">
              <a:buNone/>
              <a:defRPr sz="2323"/>
            </a:lvl3pPr>
            <a:lvl4pPr marL="1327798" indent="0">
              <a:buNone/>
              <a:defRPr sz="1936"/>
            </a:lvl4pPr>
            <a:lvl5pPr marL="1770397" indent="0">
              <a:buNone/>
              <a:defRPr sz="1936"/>
            </a:lvl5pPr>
            <a:lvl6pPr marL="2212997" indent="0">
              <a:buNone/>
              <a:defRPr sz="1936"/>
            </a:lvl6pPr>
            <a:lvl7pPr marL="2655596" indent="0">
              <a:buNone/>
              <a:defRPr sz="1936"/>
            </a:lvl7pPr>
            <a:lvl8pPr marL="3098195" indent="0">
              <a:buNone/>
              <a:defRPr sz="1936"/>
            </a:lvl8pPr>
            <a:lvl9pPr marL="3540795" indent="0">
              <a:buNone/>
              <a:defRPr sz="1936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723" y="3557589"/>
            <a:ext cx="2854968" cy="6590871"/>
          </a:xfrm>
        </p:spPr>
        <p:txBody>
          <a:bodyPr/>
          <a:lstStyle>
            <a:lvl1pPr marL="0" indent="0">
              <a:buNone/>
              <a:defRPr sz="1549"/>
            </a:lvl1pPr>
            <a:lvl2pPr marL="442599" indent="0">
              <a:buNone/>
              <a:defRPr sz="1355"/>
            </a:lvl2pPr>
            <a:lvl3pPr marL="885199" indent="0">
              <a:buNone/>
              <a:defRPr sz="1162"/>
            </a:lvl3pPr>
            <a:lvl4pPr marL="1327798" indent="0">
              <a:buNone/>
              <a:defRPr sz="968"/>
            </a:lvl4pPr>
            <a:lvl5pPr marL="1770397" indent="0">
              <a:buNone/>
              <a:defRPr sz="968"/>
            </a:lvl5pPr>
            <a:lvl6pPr marL="2212997" indent="0">
              <a:buNone/>
              <a:defRPr sz="968"/>
            </a:lvl6pPr>
            <a:lvl7pPr marL="2655596" indent="0">
              <a:buNone/>
              <a:defRPr sz="968"/>
            </a:lvl7pPr>
            <a:lvl8pPr marL="3098195" indent="0">
              <a:buNone/>
              <a:defRPr sz="968"/>
            </a:lvl8pPr>
            <a:lvl9pPr marL="3540795" indent="0">
              <a:buNone/>
              <a:defRPr sz="968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2564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32313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34641" y="631363"/>
            <a:ext cx="1908691" cy="10049636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8569" y="631363"/>
            <a:ext cx="5615424" cy="10049636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794036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8569" y="631366"/>
            <a:ext cx="7634764" cy="22921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569" y="3156811"/>
            <a:ext cx="7634764" cy="7524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8568" y="10991192"/>
            <a:ext cx="1991678" cy="6313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2194" y="10991192"/>
            <a:ext cx="2987516" cy="6313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51655" y="10991192"/>
            <a:ext cx="1991678" cy="6313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82170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885199" rtl="0" eaLnBrk="1" latinLnBrk="0" hangingPunct="1">
        <a:lnSpc>
          <a:spcPct val="90000"/>
        </a:lnSpc>
        <a:spcBef>
          <a:spcPct val="0"/>
        </a:spcBef>
        <a:buNone/>
        <a:defRPr sz="42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1300" indent="-221300" algn="l" defTabSz="885199" rtl="0" eaLnBrk="1" latinLnBrk="0" hangingPunct="1">
        <a:lnSpc>
          <a:spcPct val="90000"/>
        </a:lnSpc>
        <a:spcBef>
          <a:spcPts val="968"/>
        </a:spcBef>
        <a:buFont typeface="Arial" panose="020B0604020202020204" pitchFamily="34" charset="0"/>
        <a:buChar char="•"/>
        <a:defRPr sz="2711" kern="1200">
          <a:solidFill>
            <a:schemeClr val="tx1"/>
          </a:solidFill>
          <a:latin typeface="+mn-lt"/>
          <a:ea typeface="+mn-ea"/>
          <a:cs typeface="+mn-cs"/>
        </a:defRPr>
      </a:lvl1pPr>
      <a:lvl2pPr marL="663899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2323" kern="1200">
          <a:solidFill>
            <a:schemeClr val="tx1"/>
          </a:solidFill>
          <a:latin typeface="+mn-lt"/>
          <a:ea typeface="+mn-ea"/>
          <a:cs typeface="+mn-cs"/>
        </a:defRPr>
      </a:lvl2pPr>
      <a:lvl3pPr marL="1106498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936" kern="1200">
          <a:solidFill>
            <a:schemeClr val="tx1"/>
          </a:solidFill>
          <a:latin typeface="+mn-lt"/>
          <a:ea typeface="+mn-ea"/>
          <a:cs typeface="+mn-cs"/>
        </a:defRPr>
      </a:lvl3pPr>
      <a:lvl4pPr marL="1549098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743" kern="1200">
          <a:solidFill>
            <a:schemeClr val="tx1"/>
          </a:solidFill>
          <a:latin typeface="+mn-lt"/>
          <a:ea typeface="+mn-ea"/>
          <a:cs typeface="+mn-cs"/>
        </a:defRPr>
      </a:lvl4pPr>
      <a:lvl5pPr marL="1991697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743" kern="1200">
          <a:solidFill>
            <a:schemeClr val="tx1"/>
          </a:solidFill>
          <a:latin typeface="+mn-lt"/>
          <a:ea typeface="+mn-ea"/>
          <a:cs typeface="+mn-cs"/>
        </a:defRPr>
      </a:lvl5pPr>
      <a:lvl6pPr marL="2434296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743" kern="1200">
          <a:solidFill>
            <a:schemeClr val="tx1"/>
          </a:solidFill>
          <a:latin typeface="+mn-lt"/>
          <a:ea typeface="+mn-ea"/>
          <a:cs typeface="+mn-cs"/>
        </a:defRPr>
      </a:lvl6pPr>
      <a:lvl7pPr marL="2876896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743" kern="1200">
          <a:solidFill>
            <a:schemeClr val="tx1"/>
          </a:solidFill>
          <a:latin typeface="+mn-lt"/>
          <a:ea typeface="+mn-ea"/>
          <a:cs typeface="+mn-cs"/>
        </a:defRPr>
      </a:lvl7pPr>
      <a:lvl8pPr marL="3319495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743" kern="1200">
          <a:solidFill>
            <a:schemeClr val="tx1"/>
          </a:solidFill>
          <a:latin typeface="+mn-lt"/>
          <a:ea typeface="+mn-ea"/>
          <a:cs typeface="+mn-cs"/>
        </a:defRPr>
      </a:lvl8pPr>
      <a:lvl9pPr marL="3762094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7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1pPr>
      <a:lvl2pPr marL="442599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2pPr>
      <a:lvl3pPr marL="885199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3pPr>
      <a:lvl4pPr marL="1327798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4pPr>
      <a:lvl5pPr marL="1770397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5pPr>
      <a:lvl6pPr marL="2212997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6pPr>
      <a:lvl7pPr marL="2655596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7pPr>
      <a:lvl8pPr marL="3098195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8pPr>
      <a:lvl9pPr marL="3540795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oleObject" Target="file:///\\192.168.1.209\Areas_Datos_Compartidos\Carpeta%20Renta%20Fija\Fondos\TEMPLATE%20FONDOS\EXCELS\TEMPLATE%20FONDO%20ALTO%20APORTE.xlsx!Comentario!F2C1:F4C1" TargetMode="External"/><Relationship Id="rId3" Type="http://schemas.openxmlformats.org/officeDocument/2006/relationships/image" Target="../media/image1.emf"/><Relationship Id="rId4" Type="http://schemas.openxmlformats.org/officeDocument/2006/relationships/oleObject" Target="file:///\\192.168.1.209\Areas_Datos_Compartidos\Carpeta%20Renta%20Fija\Fondos\TEMPLATE%20FONDOS\EXCELS\TEMPLATE%20FONDO%20ALTO%20APORTE.xlsx!Datos%20ICP%20(2)!%5bTEMPLATE%20FONDO%20ALTO%20APORTE.xlsx%5dDatos%20ICP%20(2)%2034%20Gr&#225;fico" TargetMode="External"/><Relationship Id="rId5" Type="http://schemas.openxmlformats.org/officeDocument/2006/relationships/image" Target="../media/image2.emf"/><Relationship Id="rId6" Type="http://schemas.openxmlformats.org/officeDocument/2006/relationships/image" Target="../media/image3.emf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oleObject" Target="file:///\\192.168.1.209\Areas_Datos_Compartidos\Carpeta%20Renta%20Fija\Fondos\TEMPLATE%20FONDOS\EXCELS\TEMPLATE%20FONDO%20ALTO%20APORTE.xlsx!composici&#243;n!F3C11:F7C12" TargetMode="External"/><Relationship Id="rId4" Type="http://schemas.openxmlformats.org/officeDocument/2006/relationships/image" Target="../media/image5.emf"/><Relationship Id="rId5" Type="http://schemas.openxmlformats.org/officeDocument/2006/relationships/oleObject" Target="file:///\\192.168.1.209\Areas_Datos_Compartidos\Carpeta%20Renta%20Fija\Fondos\TEMPLATE%20FONDOS\EXCELS\TEMPLATE%20FONDO%20ALTO%20APORTE.xlsx!composici&#243;n!F3C19:F4C20" TargetMode="External"/><Relationship Id="rId6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25C1F43-EED3-8D06-6A11-474DFFAEEC24}"/>
              </a:ext>
            </a:extLst>
          </p:cNvPr>
          <p:cNvSpPr/>
          <p:nvPr/>
        </p:nvSpPr>
        <p:spPr>
          <a:xfrm>
            <a:off x="-27428" y="0"/>
            <a:ext cx="3477579" cy="11858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5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F92F090-C318-A5C7-9D42-99E0C187BD76}"/>
              </a:ext>
            </a:extLst>
          </p:cNvPr>
          <p:cNvSpPr txBox="1"/>
          <p:nvPr/>
        </p:nvSpPr>
        <p:spPr>
          <a:xfrm>
            <a:off x="188129" y="1309253"/>
            <a:ext cx="3193498" cy="933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733" b="1" dirty="0">
                <a:solidFill>
                  <a:schemeClr val="bg1"/>
                </a:solidFill>
                <a:latin typeface="Be Vietnam Pro" pitchFamily="2" charset="77"/>
              </a:rPr>
              <a:t>LIQUIDEZ CORRIENTE</a:t>
            </a:r>
          </a:p>
          <a:p>
            <a:r>
              <a:rPr lang="es-CL" sz="2733" b="1" dirty="0">
                <a:solidFill>
                  <a:schemeClr val="bg1"/>
                </a:solidFill>
                <a:latin typeface="Be Vietnam Pro" pitchFamily="2" charset="77"/>
              </a:rPr>
              <a:t/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4FD8003-A37A-3240-D858-359FF5BCC3F9}"/>
              </a:ext>
            </a:extLst>
          </p:cNvPr>
          <p:cNvSpPr txBox="1"/>
          <p:nvPr/>
        </p:nvSpPr>
        <p:spPr>
          <a:xfrm>
            <a:off x="2010480" y="2255664"/>
            <a:ext cx="1056657" cy="25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L" sz="1025" spc="342" dirty="0">
                <a:solidFill>
                  <a:schemeClr val="bg1"/>
                </a:solidFill>
                <a:latin typeface="Be Vietnam Pro Thin" pitchFamily="2" charset="77"/>
              </a:rPr>
              <a:t>FONDO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4E7D0AF8-4F52-2E54-885C-676912163962}"/>
              </a:ext>
            </a:extLst>
          </p:cNvPr>
          <p:cNvCxnSpPr>
            <a:cxnSpLocks/>
          </p:cNvCxnSpPr>
          <p:nvPr/>
        </p:nvCxnSpPr>
        <p:spPr>
          <a:xfrm>
            <a:off x="307690" y="2536083"/>
            <a:ext cx="27594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1AAE09A-8F0A-1FF3-4AB4-5B9B11318669}"/>
              </a:ext>
            </a:extLst>
          </p:cNvPr>
          <p:cNvSpPr txBox="1"/>
          <p:nvPr/>
        </p:nvSpPr>
        <p:spPr>
          <a:xfrm>
            <a:off x="3717452" y="1088123"/>
            <a:ext cx="4414885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50" b="1" spc="-114" dirty="0">
                <a:latin typeface="Be Vietnam Pro SemiBold" pitchFamily="2" charset="77"/>
              </a:rPr>
              <a:t>prueba CLP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3E46B54-9D73-638A-D7EF-CD6D04523D9C}"/>
              </a:ext>
            </a:extLst>
          </p:cNvPr>
          <p:cNvSpPr txBox="1"/>
          <p:nvPr/>
        </p:nvSpPr>
        <p:spPr>
          <a:xfrm>
            <a:off x="188129" y="3022662"/>
            <a:ext cx="2759449" cy="302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367" b="1" dirty="0">
                <a:solidFill>
                  <a:schemeClr val="bg1"/>
                </a:solidFill>
                <a:latin typeface="Be Vietnam Pro SemiBold" pitchFamily="2" charset="77"/>
              </a:rPr>
              <a:t>Información General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E574DF2-15B5-5B83-FAFB-C0B0A3B6CBDD}"/>
              </a:ext>
            </a:extLst>
          </p:cNvPr>
          <p:cNvSpPr txBox="1"/>
          <p:nvPr/>
        </p:nvSpPr>
        <p:spPr>
          <a:xfrm>
            <a:off x="3717452" y="6162794"/>
            <a:ext cx="4414885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50" b="1" spc="-114" dirty="0">
                <a:latin typeface="Be Vietnam Pro SemiBold" pitchFamily="2" charset="77"/>
              </a:rPr>
              <a:t>Evolución Rentabilidad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201EE872-9639-346C-8605-6FAABA62C21B}"/>
              </a:ext>
            </a:extLst>
          </p:cNvPr>
          <p:cNvCxnSpPr>
            <a:cxnSpLocks/>
          </p:cNvCxnSpPr>
          <p:nvPr/>
        </p:nvCxnSpPr>
        <p:spPr>
          <a:xfrm>
            <a:off x="307690" y="6674336"/>
            <a:ext cx="27594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C58F6858-997C-4F4B-459C-0C00E5AFF00C}"/>
              </a:ext>
            </a:extLst>
          </p:cNvPr>
          <p:cNvSpPr txBox="1"/>
          <p:nvPr/>
        </p:nvSpPr>
        <p:spPr>
          <a:xfrm>
            <a:off x="188129" y="7024501"/>
            <a:ext cx="2759449" cy="302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367" b="1" dirty="0">
                <a:solidFill>
                  <a:schemeClr val="bg1"/>
                </a:solidFill>
                <a:latin typeface="Be Vietnam Pro SemiBold" pitchFamily="2" charset="77"/>
              </a:rPr>
              <a:t>Objetivo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673AFA18-A9F2-69EE-ECB6-CC6A2B7EDCC1}"/>
              </a:ext>
            </a:extLst>
          </p:cNvPr>
          <p:cNvCxnSpPr>
            <a:cxnSpLocks/>
          </p:cNvCxnSpPr>
          <p:nvPr/>
        </p:nvCxnSpPr>
        <p:spPr>
          <a:xfrm>
            <a:off x="307690" y="8466334"/>
            <a:ext cx="27594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30B32C2-522D-532B-6D3A-ACACD610C613}"/>
              </a:ext>
            </a:extLst>
          </p:cNvPr>
          <p:cNvSpPr txBox="1"/>
          <p:nvPr/>
        </p:nvSpPr>
        <p:spPr>
          <a:xfrm>
            <a:off x="188129" y="8746755"/>
            <a:ext cx="2759449" cy="302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367" b="1" dirty="0">
                <a:solidFill>
                  <a:schemeClr val="bg1"/>
                </a:solidFill>
                <a:latin typeface="Be Vietnam Pro SemiBold" pitchFamily="2" charset="77"/>
              </a:rPr>
              <a:t>Rentabilidad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424EAD7-4979-F678-31A6-9CF82FC7FDD2}"/>
              </a:ext>
            </a:extLst>
          </p:cNvPr>
          <p:cNvSpPr txBox="1"/>
          <p:nvPr/>
        </p:nvSpPr>
        <p:spPr>
          <a:xfrm>
            <a:off x="173529" y="7426104"/>
            <a:ext cx="2981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Invertir los recursos del fondo en instrumentos de deuda de corto y mediano plazo, en una cartera diversificada, obteniendo una rentabilidad igual o superior al ICP.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23ADE17-F366-2E3A-9AAD-689DCA7B6139}"/>
              </a:ext>
            </a:extLst>
          </p:cNvPr>
          <p:cNvSpPr txBox="1"/>
          <p:nvPr/>
        </p:nvSpPr>
        <p:spPr>
          <a:xfrm>
            <a:off x="173529" y="9202663"/>
            <a:ext cx="2981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La rentabilidad esperada del Fondo </a:t>
            </a:r>
            <a:r>
              <a:rPr lang="es-CL" sz="800" dirty="0" err="1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Vantrust</a:t>
            </a: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 Alto Aporte, es la tasa de política monetaria promedio del Banco Central de Chile.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55AD5301-48A8-F376-0C1F-F3F89DCDBD9E}"/>
              </a:ext>
            </a:extLst>
          </p:cNvPr>
          <p:cNvCxnSpPr>
            <a:cxnSpLocks/>
          </p:cNvCxnSpPr>
          <p:nvPr/>
        </p:nvCxnSpPr>
        <p:spPr>
          <a:xfrm>
            <a:off x="307690" y="10109672"/>
            <a:ext cx="27594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7CC8F409-C3AD-B273-76DB-6BC7DECA336F}"/>
              </a:ext>
            </a:extLst>
          </p:cNvPr>
          <p:cNvSpPr txBox="1"/>
          <p:nvPr/>
        </p:nvSpPr>
        <p:spPr>
          <a:xfrm>
            <a:off x="188129" y="10390093"/>
            <a:ext cx="2759449" cy="302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367" b="1" dirty="0">
                <a:solidFill>
                  <a:schemeClr val="bg1"/>
                </a:solidFill>
                <a:latin typeface="Be Vietnam Pro SemiBold" pitchFamily="2" charset="77"/>
              </a:rPr>
              <a:t>Inversionistas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CE2C489F-7E32-2DE3-1285-87413E5A4734}"/>
              </a:ext>
            </a:extLst>
          </p:cNvPr>
          <p:cNvSpPr txBox="1"/>
          <p:nvPr/>
        </p:nvSpPr>
        <p:spPr>
          <a:xfrm>
            <a:off x="173529" y="10846001"/>
            <a:ext cx="2981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Dirigida a empresas y personas que buscan invertir sus excedentes de caja con una rentabilidad de corto plazo y baja tolerancia al riesgo.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5FF92E74-DA61-E75F-A38B-54F5359DCC07}"/>
              </a:ext>
            </a:extLst>
          </p:cNvPr>
          <p:cNvSpPr txBox="1"/>
          <p:nvPr/>
        </p:nvSpPr>
        <p:spPr>
          <a:xfrm>
            <a:off x="196763" y="3524690"/>
            <a:ext cx="2870375" cy="3026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Administradora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RUT Fondo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Moneda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Tipo de Fondo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Fecha Inicio</a:t>
            </a:r>
          </a:p>
          <a:p>
            <a:pPr>
              <a:lnSpc>
                <a:spcPct val="150000"/>
              </a:lnSpc>
            </a:pPr>
            <a:r>
              <a:rPr lang="es-CL" sz="800" dirty="0" err="1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Benchmark</a:t>
            </a:r>
            <a:endParaRPr lang="es-CL" sz="800" dirty="0">
              <a:solidFill>
                <a:schemeClr val="bg1"/>
              </a:solidFill>
              <a:latin typeface="Be Vietnam Pro Thin" pitchFamily="2" charset="77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Fondo Rescatable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Plazo Rescate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Riesgos</a:t>
            </a:r>
          </a:p>
          <a:p>
            <a:pPr>
              <a:lnSpc>
                <a:spcPct val="150000"/>
              </a:lnSpc>
            </a:pPr>
            <a:endParaRPr lang="es-CL" sz="800" dirty="0">
              <a:solidFill>
                <a:schemeClr val="bg1"/>
              </a:solidFill>
              <a:latin typeface="Be Vietnam Pro Thin" pitchFamily="2" charset="77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s-CL" sz="800" dirty="0">
              <a:solidFill>
                <a:schemeClr val="bg1"/>
              </a:solidFill>
              <a:latin typeface="Be Vietnam Pro Thin" pitchFamily="2" charset="77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Remuneración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Custodio</a:t>
            </a:r>
          </a:p>
          <a:p>
            <a:pPr>
              <a:lnSpc>
                <a:spcPct val="150000"/>
              </a:lnSpc>
            </a:pPr>
            <a:endParaRPr lang="es-CL" sz="800" dirty="0">
              <a:solidFill>
                <a:schemeClr val="bg1"/>
              </a:solidFill>
              <a:latin typeface="Be Vietnam Pro Thin" pitchFamily="2" charset="77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s-CL" sz="800" dirty="0">
              <a:solidFill>
                <a:schemeClr val="bg1"/>
              </a:solidFill>
              <a:latin typeface="Be Vietnam Pro Thin" pitchFamily="2" charset="77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s-CL" sz="800" b="1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Mínimo de Inversión Inicial: $300.000.000 .-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CBB94755-8987-0E74-F8A0-9C8A41125E05}"/>
              </a:ext>
            </a:extLst>
          </p:cNvPr>
          <p:cNvSpPr txBox="1"/>
          <p:nvPr/>
        </p:nvSpPr>
        <p:spPr>
          <a:xfrm>
            <a:off x="1375723" y="3524690"/>
            <a:ext cx="2005904" cy="2472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CL" sz="800" dirty="0" err="1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Vantrust Gestion Patrimonial S.A.</a:t>
            </a: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 </a:t>
            </a:r>
            <a:r>
              <a:rPr lang="es-CL" sz="800" dirty="0" err="1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Gestion</a:t>
            </a: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 Patrimonial S.A. 77.270.966-8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76,637,334-8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CLP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Fondo de Inversión Privado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July 2025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Índice Cámara Promedio (ICP)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Sí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A más tardar 15 días corridos</a:t>
            </a:r>
          </a:p>
          <a:p>
            <a:pPr>
              <a:lnSpc>
                <a:spcPct val="150000"/>
              </a:lnSpc>
            </a:pPr>
            <a:endParaRPr lang="es-CL" sz="800" dirty="0">
              <a:solidFill>
                <a:schemeClr val="bg1"/>
              </a:solidFill>
              <a:latin typeface="Be Vietnam Pro Thin" pitchFamily="2" charset="77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0,1785% IVA Incluido</a:t>
            </a:r>
          </a:p>
          <a:p>
            <a:pPr>
              <a:lnSpc>
                <a:spcPct val="150000"/>
              </a:lnSpc>
            </a:pPr>
            <a:r>
              <a:rPr lang="es-CL" sz="800" dirty="0" err="1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Vantrust</a:t>
            </a: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 Capital C. de Bolsa</a:t>
            </a:r>
          </a:p>
        </p:txBody>
      </p: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6F5638A7-23C2-BE95-F9B8-1E0EA82E8137}"/>
              </a:ext>
            </a:extLst>
          </p:cNvPr>
          <p:cNvCxnSpPr>
            <a:cxnSpLocks/>
          </p:cNvCxnSpPr>
          <p:nvPr/>
        </p:nvCxnSpPr>
        <p:spPr>
          <a:xfrm flipV="1">
            <a:off x="3830320" y="8316870"/>
            <a:ext cx="4607990" cy="11285"/>
          </a:xfrm>
          <a:prstGeom prst="line">
            <a:avLst/>
          </a:prstGeom>
          <a:ln w="158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1D5E1689-A4B5-60DB-3125-15703FF8D0AC}"/>
              </a:ext>
            </a:extLst>
          </p:cNvPr>
          <p:cNvCxnSpPr>
            <a:cxnSpLocks/>
          </p:cNvCxnSpPr>
          <p:nvPr/>
        </p:nvCxnSpPr>
        <p:spPr>
          <a:xfrm>
            <a:off x="3830320" y="11500207"/>
            <a:ext cx="4568416" cy="0"/>
          </a:xfrm>
          <a:prstGeom prst="line">
            <a:avLst/>
          </a:prstGeom>
          <a:ln w="158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CuadroTexto 84">
            <a:extLst>
              <a:ext uri="{FF2B5EF4-FFF2-40B4-BE49-F238E27FC236}">
                <a16:creationId xmlns:a16="http://schemas.microsoft.com/office/drawing/2014/main" id="{64179553-6C4B-1F1B-A19E-EE3A684812AD}"/>
              </a:ext>
            </a:extLst>
          </p:cNvPr>
          <p:cNvSpPr txBox="1"/>
          <p:nvPr/>
        </p:nvSpPr>
        <p:spPr>
          <a:xfrm>
            <a:off x="3721117" y="8005106"/>
            <a:ext cx="46795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000" spc="-34" dirty="0">
                <a:solidFill>
                  <a:schemeClr val="bg2">
                    <a:lumMod val="50000"/>
                  </a:schemeClr>
                </a:solidFill>
                <a:latin typeface="Be Vietnam Pro ExtraLight" pitchFamily="2" charset="77"/>
                <a:ea typeface="Calibri" panose="020F0502020204030204" pitchFamily="34" charset="0"/>
              </a:rPr>
              <a:t>*Valores correspondientes a la rentabilidad anualizada, no acumulada</a:t>
            </a:r>
          </a:p>
        </p:txBody>
      </p:sp>
      <p:graphicFrame>
        <p:nvGraphicFramePr>
          <p:cNvPr id="15" name="Objeto 14">
            <a:extLst>
              <a:ext uri="{FF2B5EF4-FFF2-40B4-BE49-F238E27FC236}">
                <a16:creationId xmlns:a16="http://schemas.microsoft.com/office/drawing/2014/main" id="{0E710717-E7D2-88EB-4D65-6D91785879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2442303"/>
              </p:ext>
            </p:extLst>
          </p:nvPr>
        </p:nvGraphicFramePr>
        <p:xfrm>
          <a:off x="3886200" y="1524000"/>
          <a:ext cx="4305300" cy="206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305405" imgH="2067110" progId="Excel.Sheet.12">
                  <p:link updateAutomatic="1"/>
                </p:oleObj>
              </mc:Choice>
              <mc:Fallback>
                <p:oleObj name="Worksheet" r:id="rId2" imgW="4305405" imgH="2067110" progId="Excel.Sheet.12">
                  <p:link updateAutomatic="1"/>
                  <p:pic>
                    <p:nvPicPr>
                      <p:cNvPr id="15" name="Objeto 14">
                        <a:extLst>
                          <a:ext uri="{FF2B5EF4-FFF2-40B4-BE49-F238E27FC236}">
                            <a16:creationId xmlns:a16="http://schemas.microsoft.com/office/drawing/2014/main" id="{0E710717-E7D2-88EB-4D65-6D91785879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86200" y="1524000"/>
                        <a:ext cx="4305300" cy="2066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to 15">
            <a:extLst>
              <a:ext uri="{FF2B5EF4-FFF2-40B4-BE49-F238E27FC236}">
                <a16:creationId xmlns:a16="http://schemas.microsoft.com/office/drawing/2014/main" id="{69C5A6DA-8D09-832F-FE36-0FBE903603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4783450"/>
              </p:ext>
            </p:extLst>
          </p:nvPr>
        </p:nvGraphicFramePr>
        <p:xfrm>
          <a:off x="3894138" y="3490913"/>
          <a:ext cx="4292600" cy="2744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6410261" imgH="4447943" progId="Excel.Sheet.12">
                  <p:link updateAutomatic="1"/>
                </p:oleObj>
              </mc:Choice>
              <mc:Fallback>
                <p:oleObj name="Worksheet" r:id="rId4" imgW="6410261" imgH="4447943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94138" y="3490913"/>
                        <a:ext cx="4292600" cy="2744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Imagen 12">
            <a:extLst>
              <a:ext uri="{FF2B5EF4-FFF2-40B4-BE49-F238E27FC236}">
                <a16:creationId xmlns:a16="http://schemas.microsoft.com/office/drawing/2014/main" id="{97836E50-891E-9C36-FEC2-DEB2BEB17F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8142" y="6612030"/>
            <a:ext cx="5201354" cy="720458"/>
          </a:xfrm>
          <a:prstGeom prst="rect">
            <a:avLst/>
          </a:prstGeom>
        </p:spPr>
      </p:pic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2590" y="1462653"/>
            <a:ext cx="4743450" cy="1533525"/>
          </a:xfrm>
          <a:prstGeom prst="rect">
            <a:avLst/>
          </a:prstGeom>
        </p:spPr>
      </p:pic>
      <p:pic>
        <p:nvPicPr>
          <p:cNvPr id="87" name="Picture 8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06246" y="3174018"/>
            <a:ext cx="4656137" cy="2860675"/>
          </a:xfrm>
          <a:prstGeom prst="rect">
            <a:avLst/>
          </a:prstGeom>
        </p:spPr>
      </p:pic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27283" y="6762063"/>
            <a:ext cx="4267200" cy="885825"/>
          </a:xfrm>
          <a:prstGeom prst="rect">
            <a:avLst/>
          </a:prstGeom>
        </p:spPr>
      </p:pic>
      <p:pic>
        <p:nvPicPr>
          <p:cNvPr id="89" name="Picture 8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16035" y="8713003"/>
            <a:ext cx="5042553" cy="189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530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ángulo 28">
            <a:extLst>
              <a:ext uri="{FF2B5EF4-FFF2-40B4-BE49-F238E27FC236}">
                <a16:creationId xmlns:a16="http://schemas.microsoft.com/office/drawing/2014/main" id="{F2FEB0CE-D207-2AD9-E87C-6E5DAD909032}"/>
              </a:ext>
            </a:extLst>
          </p:cNvPr>
          <p:cNvSpPr/>
          <p:nvPr/>
        </p:nvSpPr>
        <p:spPr>
          <a:xfrm>
            <a:off x="-27428" y="0"/>
            <a:ext cx="3477579" cy="11858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5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F012250-FD59-CD5A-7F7F-7F110F397F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2699" b="8009"/>
          <a:stretch/>
        </p:blipFill>
        <p:spPr>
          <a:xfrm>
            <a:off x="-25400" y="0"/>
            <a:ext cx="8851900" cy="108471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384BD69A-9BB5-F8BC-6E12-7613D5A2802C}"/>
              </a:ext>
            </a:extLst>
          </p:cNvPr>
          <p:cNvSpPr txBox="1"/>
          <p:nvPr/>
        </p:nvSpPr>
        <p:spPr>
          <a:xfrm>
            <a:off x="295703" y="3040950"/>
            <a:ext cx="2759449" cy="302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367" b="1" dirty="0">
                <a:solidFill>
                  <a:schemeClr val="bg1"/>
                </a:solidFill>
                <a:latin typeface="Be Vietnam Pro SemiBold" pitchFamily="2" charset="77"/>
              </a:rPr>
              <a:t>Composición por Moneda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5735BFFA-DA7F-982D-6A6F-697DC6BDFC7F}"/>
              </a:ext>
            </a:extLst>
          </p:cNvPr>
          <p:cNvCxnSpPr>
            <a:cxnSpLocks/>
          </p:cNvCxnSpPr>
          <p:nvPr/>
        </p:nvCxnSpPr>
        <p:spPr>
          <a:xfrm>
            <a:off x="295703" y="4547568"/>
            <a:ext cx="27594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AC4F03D-3D79-B951-9C58-BB8651AE4F19}"/>
              </a:ext>
            </a:extLst>
          </p:cNvPr>
          <p:cNvSpPr txBox="1"/>
          <p:nvPr/>
        </p:nvSpPr>
        <p:spPr>
          <a:xfrm>
            <a:off x="295703" y="4797082"/>
            <a:ext cx="3169190" cy="51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367" b="1" dirty="0">
                <a:solidFill>
                  <a:schemeClr val="bg1"/>
                </a:solidFill>
                <a:latin typeface="Be Vietnam Pro SemiBold" pitchFamily="2" charset="77"/>
              </a:rPr>
              <a:t>Composición General por Instrumentos Financieros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FA7238F-E87F-22BA-820C-D7DEBC4E1EBA}"/>
              </a:ext>
            </a:extLst>
          </p:cNvPr>
          <p:cNvSpPr txBox="1"/>
          <p:nvPr/>
        </p:nvSpPr>
        <p:spPr>
          <a:xfrm>
            <a:off x="2010480" y="2255664"/>
            <a:ext cx="1056657" cy="25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L" sz="1025" spc="342" dirty="0">
                <a:solidFill>
                  <a:schemeClr val="bg1"/>
                </a:solidFill>
                <a:latin typeface="Be Vietnam Pro Thin" pitchFamily="2" charset="77"/>
              </a:rPr>
              <a:t>LIQUIDEZ CORRIENTE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EF4BD1EF-C6D4-5979-43FF-CC01A2EBE4E0}"/>
              </a:ext>
            </a:extLst>
          </p:cNvPr>
          <p:cNvCxnSpPr>
            <a:cxnSpLocks/>
          </p:cNvCxnSpPr>
          <p:nvPr/>
        </p:nvCxnSpPr>
        <p:spPr>
          <a:xfrm>
            <a:off x="295703" y="2536083"/>
            <a:ext cx="27594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D97D21AC-D803-922C-165A-3DDD23FE0B13}"/>
              </a:ext>
            </a:extLst>
          </p:cNvPr>
          <p:cNvCxnSpPr>
            <a:cxnSpLocks/>
          </p:cNvCxnSpPr>
          <p:nvPr/>
        </p:nvCxnSpPr>
        <p:spPr>
          <a:xfrm>
            <a:off x="295703" y="8136636"/>
            <a:ext cx="27594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193A9C6-AB07-A70C-7B27-8BB52590CE56}"/>
              </a:ext>
            </a:extLst>
          </p:cNvPr>
          <p:cNvSpPr txBox="1"/>
          <p:nvPr/>
        </p:nvSpPr>
        <p:spPr>
          <a:xfrm>
            <a:off x="295703" y="8623215"/>
            <a:ext cx="3169190" cy="302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367" b="1" dirty="0">
                <a:solidFill>
                  <a:schemeClr val="bg1"/>
                </a:solidFill>
                <a:latin typeface="Be Vietnam Pro SemiBold" pitchFamily="2" charset="77"/>
              </a:rPr>
              <a:t>Composición por Duración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5947EA3-3FDE-5AAA-82D0-B3A46DD180F4}"/>
              </a:ext>
            </a:extLst>
          </p:cNvPr>
          <p:cNvSpPr txBox="1"/>
          <p:nvPr/>
        </p:nvSpPr>
        <p:spPr>
          <a:xfrm>
            <a:off x="3871227" y="1538819"/>
            <a:ext cx="4295734" cy="409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50" b="1" spc="-114" dirty="0">
                <a:latin typeface="Be Vietnam Pro SemiBold" pitchFamily="2" charset="77"/>
              </a:rPr>
              <a:t>Glosario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1282681-A294-7026-1D34-B26EF906E9CA}"/>
              </a:ext>
            </a:extLst>
          </p:cNvPr>
          <p:cNvSpPr txBox="1"/>
          <p:nvPr/>
        </p:nvSpPr>
        <p:spPr>
          <a:xfrm>
            <a:off x="3864678" y="2369926"/>
            <a:ext cx="4679532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Riesgo de Mercado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Este es el riesgo de una variación adversa en el precio o tasa de mercado en los instrumentos en que invierte el Fondo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Riesgo de Crédito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Es la posible pérdida que se asume como consecuencia del incumplimiento de las obligaciones directas, indirectas o de derivados que conllevan al no pago parcial, total o falta de oportunidad del pago de los emisores de los instrumentos en que invierte el Fondo y que pudieran ocasionar una pérdida financiera.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Riesgo de Liquidez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Riesgo asociado a la capacidad de generación de recursos del Fondo para cumplir con sus obligaciones de rescate o vencimiento del mismo.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Riesgo Profundidad de Mercado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Corresponde a la posibilidad de comprar o vender un activo financiero al valor de mercado en un período de tiempo acorde a las características del instrumento.  Períodos de alta volatilidad de mercado afectan negativamente estos tiempos.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Riesgo de Tasa de interés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Exposición a pérdidas ocasionadas por cambios adversos en las tasas de interés de mercado y que afecten el valor de los instrumentos, contratos y demás operaciones registradas en el balance. 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Riesgo de Moneda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Es la exposición a pérdidas ocasionadas por cambios adversos en el valor en moneda nacional de las monedas extranjeras que están expresados a los instrumentos, contratos y demás operaciones del balance del Fondo.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Riesgo Sectorial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Este riesgo está asociado a condiciones de mercado adversas que pueden afectar a un sector industrial en particular y por ende la rentabilidad del Fondo. 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b="1" spc="-34" dirty="0">
                <a:latin typeface="Be Vietnam Pro SemiBold" pitchFamily="2" charset="77"/>
                <a:ea typeface="Calibri" panose="020F0502020204030204" pitchFamily="34" charset="0"/>
              </a:rPr>
              <a:t>Gastos del fondo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Corresponden a los gastos directos e indirectos necesarios para el correcto funcionamiento del fondo los que están detallados en el Reglamento Interno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Forma de Ingreso y Pago del Fondo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La moneda en que el inversionista entra al fondo es aportando pesos chilenos, y al rescate de las cuotas, el fondo le entrega pesos chilenos.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9892A1E-3043-D050-8CBB-C2FC44B74FAF}"/>
              </a:ext>
            </a:extLst>
          </p:cNvPr>
          <p:cNvSpPr txBox="1"/>
          <p:nvPr/>
        </p:nvSpPr>
        <p:spPr>
          <a:xfrm>
            <a:off x="3862593" y="9682062"/>
            <a:ext cx="4414885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50" b="1" spc="-114" dirty="0" err="1">
                <a:latin typeface="Be Vietnam Pro SemiBold" pitchFamily="2" charset="77"/>
              </a:rPr>
              <a:t>Disclaimer</a:t>
            </a:r>
            <a:endParaRPr lang="es-CL" sz="2050" b="1" spc="-114" dirty="0">
              <a:latin typeface="Be Vietnam Pro SemiBold" pitchFamily="2" charset="77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BE971C69-BE03-41D1-9CD7-A383295D6CB8}"/>
              </a:ext>
            </a:extLst>
          </p:cNvPr>
          <p:cNvSpPr txBox="1"/>
          <p:nvPr/>
        </p:nvSpPr>
        <p:spPr>
          <a:xfrm>
            <a:off x="3871227" y="10281168"/>
            <a:ext cx="467953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Conforme a la Ley Única de Fondos, las administradoras de fondos de inversión privados están sujetas a las obligaciones de información establecidas por la Comisión para el Mercado Financiero. Tales fondos no están sometidos a fiscalización de la Comisión y no hacemos oferta pública de sus cuotas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C8B00ABB-6200-9B62-C0A4-5B6E48D68C8A}"/>
              </a:ext>
            </a:extLst>
          </p:cNvPr>
          <p:cNvCxnSpPr>
            <a:cxnSpLocks/>
          </p:cNvCxnSpPr>
          <p:nvPr/>
        </p:nvCxnSpPr>
        <p:spPr>
          <a:xfrm>
            <a:off x="3995808" y="9387232"/>
            <a:ext cx="4430369" cy="0"/>
          </a:xfrm>
          <a:prstGeom prst="line">
            <a:avLst/>
          </a:prstGeom>
          <a:ln w="158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10AAA41E-2FD4-26E5-8751-D6AD7A2EB516}"/>
              </a:ext>
            </a:extLst>
          </p:cNvPr>
          <p:cNvCxnSpPr>
            <a:cxnSpLocks/>
          </p:cNvCxnSpPr>
          <p:nvPr/>
        </p:nvCxnSpPr>
        <p:spPr>
          <a:xfrm>
            <a:off x="3995808" y="11364327"/>
            <a:ext cx="4430369" cy="0"/>
          </a:xfrm>
          <a:prstGeom prst="line">
            <a:avLst/>
          </a:prstGeom>
          <a:ln w="158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Objeto 4">
            <a:extLst>
              <a:ext uri="{FF2B5EF4-FFF2-40B4-BE49-F238E27FC236}">
                <a16:creationId xmlns:a16="http://schemas.microsoft.com/office/drawing/2014/main" id="{C3E9B422-9B9B-B42E-196E-69A4CE94E2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8932569"/>
              </p:ext>
            </p:extLst>
          </p:nvPr>
        </p:nvGraphicFramePr>
        <p:xfrm>
          <a:off x="381000" y="9101138"/>
          <a:ext cx="2676525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2676363" imgH="961911" progId="Excel.Sheet.12">
                  <p:link updateAutomatic="1"/>
                </p:oleObj>
              </mc:Choice>
              <mc:Fallback>
                <p:oleObj name="Worksheet" r:id="rId3" imgW="2676363" imgH="961911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9101138"/>
                        <a:ext cx="2676525" cy="962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9B01BAA7-CC43-390A-9FF2-D25F67528C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8746644"/>
              </p:ext>
            </p:extLst>
          </p:nvPr>
        </p:nvGraphicFramePr>
        <p:xfrm>
          <a:off x="370591" y="5556652"/>
          <a:ext cx="2759448" cy="20498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3880">
                  <a:extLst>
                    <a:ext uri="{9D8B030D-6E8A-4147-A177-3AD203B41FA5}">
                      <a16:colId xmlns:a16="http://schemas.microsoft.com/office/drawing/2014/main" val="911635076"/>
                    </a:ext>
                  </a:extLst>
                </a:gridCol>
                <a:gridCol w="545672">
                  <a:extLst>
                    <a:ext uri="{9D8B030D-6E8A-4147-A177-3AD203B41FA5}">
                      <a16:colId xmlns:a16="http://schemas.microsoft.com/office/drawing/2014/main" val="2462746870"/>
                    </a:ext>
                  </a:extLst>
                </a:gridCol>
                <a:gridCol w="929896">
                  <a:extLst>
                    <a:ext uri="{9D8B030D-6E8A-4147-A177-3AD203B41FA5}">
                      <a16:colId xmlns:a16="http://schemas.microsoft.com/office/drawing/2014/main" val="282860734"/>
                    </a:ext>
                  </a:extLst>
                </a:gridCol>
              </a:tblGrid>
              <a:tr h="251487">
                <a:tc>
                  <a:txBody>
                    <a:bodyPr/>
                    <a:lstStyle/>
                    <a:p>
                      <a:endParaRPr lang="es-CL" sz="700" dirty="0">
                        <a:solidFill>
                          <a:schemeClr val="bg1"/>
                        </a:solidFill>
                        <a:latin typeface="Be Vietnam Pro SemiBold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SemiBold" pitchFamily="2" charset="0"/>
                        </a:rPr>
                        <a:t>Límites de Inversión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SemiBold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9692455"/>
                  </a:ext>
                </a:extLst>
              </a:tr>
              <a:tr h="185447">
                <a:tc>
                  <a:txBody>
                    <a:bodyPr/>
                    <a:lstStyle/>
                    <a:p>
                      <a:endParaRPr lang="es-CL" sz="700" dirty="0">
                        <a:solidFill>
                          <a:schemeClr val="bg1"/>
                        </a:solidFill>
                        <a:latin typeface="Be Vietnam Pro SemiBold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SemiBold" pitchFamily="2" charset="0"/>
                        </a:rPr>
                        <a:t>Mínimo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SemiBold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SemiBold" pitchFamily="2" charset="0"/>
                        </a:rPr>
                        <a:t>Máximo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SemiBold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72138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Bonos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25%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8897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Depósitos a Plazo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5%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100%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525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Facturas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40%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6377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Financiamientos (Inmobiliario, </a:t>
                      </a:r>
                      <a:r>
                        <a:rPr lang="es-MX" sz="700" dirty="0" err="1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Mezzanine</a:t>
                      </a:r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, etc.)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100%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764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Efectos de Comercio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40%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1489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Pagaré Banco Central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100%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7283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Caja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5%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25%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544590"/>
                  </a:ext>
                </a:extLst>
              </a:tr>
            </a:tbl>
          </a:graphicData>
        </a:graphic>
      </p:graphicFrame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AC8EB108-8432-C777-A749-33D46A40FB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4749712"/>
              </p:ext>
            </p:extLst>
          </p:nvPr>
        </p:nvGraphicFramePr>
        <p:xfrm>
          <a:off x="254000" y="3390900"/>
          <a:ext cx="2798763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3009963" imgH="390647" progId="Excel.Sheet.12">
                  <p:link updateAutomatic="1"/>
                </p:oleObj>
              </mc:Choice>
              <mc:Fallback>
                <p:oleObj name="Worksheet" r:id="rId5" imgW="3009963" imgH="390647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4000" y="3390900"/>
                        <a:ext cx="2798763" cy="390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551799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A27A13BC-BDC3-D149-8280-B90880BE6A34}" vid="{ACF1D4C1-1807-D441-9AC5-B533300F9B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 de Office</Template>
  <TotalTime>5705</TotalTime>
  <Words>600</Words>
  <Application>Microsoft Office PowerPoint</Application>
  <PresentationFormat>Custom</PresentationFormat>
  <Paragraphs>97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Tema de Office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Clara Fermandois</dc:creator>
  <cp:lastModifiedBy>Valeria Cabrera</cp:lastModifiedBy>
  <cp:revision>52</cp:revision>
  <dcterms:created xsi:type="dcterms:W3CDTF">2023-10-23T13:37:39Z</dcterms:created>
  <dcterms:modified xsi:type="dcterms:W3CDTF">2026-03-03T20:18:11Z</dcterms:modified>
</cp:coreProperties>
</file>