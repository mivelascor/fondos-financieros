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ICP Nom.</c:v>
                </c:pt>
              </c:strCache>
            </c:strRef>
          </c:tx>
          <c:spPr>
            <a:solidFill>
              <a:srgbClr val="999999"/>
            </a:solidFill>
            <a:ln w="1524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2025-07-31</c:v>
                  </c:pt>
                  <c:pt idx="1">
                    <c:v>2025-08-31</c:v>
                  </c:pt>
                  <c:pt idx="2">
                    <c:v>2025-09-30</c:v>
                  </c:pt>
                  <c:pt idx="3">
                    <c:v>2025-10-31</c:v>
                  </c:pt>
                  <c:pt idx="4">
                    <c:v>2025-11-30</c:v>
                  </c:pt>
                  <c:pt idx="5">
                    <c:v>2025-12-31</c:v>
                  </c:pt>
                  <c:pt idx="6">
                    <c:v>2026-01-31</c:v>
                  </c:pt>
                  <c:pt idx="7">
                    <c:v>2026-02-28</c:v>
                  </c:pt>
                  <c:pt idx="8">
                    <c:v>2026-03-31</c:v>
                  </c:pt>
                  <c:pt idx="9">
                    <c:v>2026-04-30</c:v>
                  </c:pt>
                  <c:pt idx="10">
                    <c:v>2026-05-31</c:v>
                  </c:pt>
                </c:lvl>
              </c:multiLvlStrCache>
            </c:multiLvl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519.78</c:v>
                </c:pt>
                <c:pt idx="1">
                  <c:v>522.32</c:v>
                </c:pt>
                <c:pt idx="2">
                  <c:v>523.75</c:v>
                </c:pt>
                <c:pt idx="3">
                  <c:v>524.58</c:v>
                </c:pt>
                <c:pt idx="4">
                  <c:v>525.18</c:v>
                </c:pt>
                <c:pt idx="5">
                  <c:v>525.63</c:v>
                </c:pt>
                <c:pt idx="6">
                  <c:v>525.88</c:v>
                </c:pt>
                <c:pt idx="7">
                  <c:v>526.1</c:v>
                </c:pt>
                <c:pt idx="8">
                  <c:v>526.32</c:v>
                </c:pt>
                <c:pt idx="9">
                  <c:v>526.54</c:v>
                </c:pt>
                <c:pt idx="10">
                  <c:v>526.76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FIP LIQUIDEZ CORRIENTE</c:v>
                </c:pt>
              </c:strCache>
            </c:strRef>
          </c:tx>
          <c:spPr>
            <a:solidFill>
              <a:srgbClr val="000000"/>
            </a:solidFill>
            <a:ln w="1524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2025-07-31</c:v>
                  </c:pt>
                  <c:pt idx="1">
                    <c:v>2025-08-31</c:v>
                  </c:pt>
                  <c:pt idx="2">
                    <c:v>2025-09-30</c:v>
                  </c:pt>
                  <c:pt idx="3">
                    <c:v>2025-10-31</c:v>
                  </c:pt>
                  <c:pt idx="4">
                    <c:v>2025-11-30</c:v>
                  </c:pt>
                  <c:pt idx="5">
                    <c:v>2025-12-31</c:v>
                  </c:pt>
                  <c:pt idx="6">
                    <c:v>2026-01-31</c:v>
                  </c:pt>
                  <c:pt idx="7">
                    <c:v>2026-02-28</c:v>
                  </c:pt>
                  <c:pt idx="8">
                    <c:v>2026-03-31</c:v>
                  </c:pt>
                  <c:pt idx="9">
                    <c:v>2026-04-30</c:v>
                  </c:pt>
                  <c:pt idx="10">
                    <c:v>2026-05-31</c:v>
                  </c:pt>
                </c:lvl>
              </c:multiLvlStrCache>
            </c:multiLvlStrRef>
          </c:cat>
          <c:val>
            <c:numRef>
              <c:f>Sheet1!$C$2:$C$12</c:f>
              <c:numCache>
                <c:formatCode>General</c:formatCode>
                <c:ptCount val="11"/>
                <c:pt idx="0">
                  <c:v>1000</c:v>
                </c:pt>
                <c:pt idx="1">
                  <c:v>1006.62</c:v>
                </c:pt>
                <c:pt idx="2">
                  <c:v>1012.91</c:v>
                </c:pt>
                <c:pt idx="3">
                  <c:v>1019.39</c:v>
                </c:pt>
                <c:pt idx="4">
                  <c:v>1025.83</c:v>
                </c:pt>
                <c:pt idx="5">
                  <c:v>1032.99</c:v>
                </c:pt>
                <c:pt idx="6">
                  <c:v>1039.36</c:v>
                </c:pt>
                <c:pt idx="7">
                  <c:v>1045.39</c:v>
                </c:pt>
                <c:pt idx="8">
                  <c:v>1051.64</c:v>
                </c:pt>
                <c:pt idx="9">
                  <c:v>1057.99</c:v>
                </c:pt>
                <c:pt idx="10">
                  <c:v>1059.01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Competencia Relevante (*)</c:v>
                </c:pt>
              </c:strCache>
            </c:strRef>
          </c:tx>
          <c:spPr>
            <a:solidFill>
              <a:srgbClr val="555555"/>
            </a:solidFill>
            <a:ln w="15240" cap="flat">
              <a:solidFill>
                <a:srgbClr val="55555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555555"/>
              </a:solidFill>
              <a:ln w="9525" cap="flat">
                <a:solidFill>
                  <a:srgbClr val="55555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2025-07-31</c:v>
                  </c:pt>
                  <c:pt idx="1">
                    <c:v>2025-08-31</c:v>
                  </c:pt>
                  <c:pt idx="2">
                    <c:v>2025-09-30</c:v>
                  </c:pt>
                  <c:pt idx="3">
                    <c:v>2025-10-31</c:v>
                  </c:pt>
                  <c:pt idx="4">
                    <c:v>2025-11-30</c:v>
                  </c:pt>
                  <c:pt idx="5">
                    <c:v>2025-12-31</c:v>
                  </c:pt>
                  <c:pt idx="6">
                    <c:v>2026-01-31</c:v>
                  </c:pt>
                  <c:pt idx="7">
                    <c:v>2026-02-28</c:v>
                  </c:pt>
                  <c:pt idx="8">
                    <c:v>2026-03-31</c:v>
                  </c:pt>
                  <c:pt idx="9">
                    <c:v>2026-04-30</c:v>
                  </c:pt>
                  <c:pt idx="10">
                    <c:v>2026-05-31</c:v>
                  </c:pt>
                </c:lvl>
              </c:multiLvlStrCache>
            </c:multiLvlStrRef>
          </c:cat>
          <c:val>
            <c:numRef>
              <c:f>Sheet1!$D$2:$D$12</c:f>
              <c:numCache>
                <c:formatCode>General</c:formatCode>
                <c:ptCount val="11"/>
                <c:pt idx="0">
                  <c:v>907.63</c:v>
                </c:pt>
                <c:pt idx="1">
                  <c:v>909.53</c:v>
                </c:pt>
                <c:pt idx="2">
                  <c:v>913.59</c:v>
                </c:pt>
                <c:pt idx="3">
                  <c:v>913.59</c:v>
                </c:pt>
                <c:pt idx="4">
                  <c:v>915.24</c:v>
                </c:pt>
                <c:pt idx="5">
                  <c:v>917.14</c:v>
                </c:pt>
                <c:pt idx="6">
                  <c:v>919.08</c:v>
                </c:pt>
                <c:pt idx="7">
                  <c:v>921.04</c:v>
                </c:pt>
                <c:pt idx="8">
                  <c:v>923.01</c:v>
                </c:pt>
                <c:pt idx="9">
                  <c:v>925.03</c:v>
                </c:pt>
                <c:pt idx="10">
                  <c:v>926.95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1"/>
      </c:catAx>
      <c:valAx>
        <c:axId val="2094734552"/>
        <c:scaling>
          <c:orientation val="minMax"/>
          <c:min val="504"/>
        </c:scaling>
        <c:delete val="0"/>
        <c:axPos val="l"/>
        <c:majorGridlines>
          <c:spPr>
            <a:ln w="381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6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7373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64592"/>
            <a:ext cx="22128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Corriente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8872" y="142646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" y="1828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8872" y="2011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" y="207568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1051560" y="207568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18872" y="224942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051560" y="224942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77,428,236-K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118872" y="242316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051560" y="242316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118872" y="2596896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051560" y="2596896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118872" y="2770632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1051560" y="2770632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Febrero 2025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118872" y="294436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1051560" y="294436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118872" y="311810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051560" y="311810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18872" y="329184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1051560" y="329184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18872" y="3465576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1051560" y="3465576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118872" y="373075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1051560" y="3730752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Menor valor entre 0,25% anual + IVA y 50% de rentabilidad + IVA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118872" y="399592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1051560" y="399592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50" dirty="0"/>
          </a:p>
        </p:txBody>
      </p:sp>
      <p:sp>
        <p:nvSpPr>
          <p:cNvPr id="30" name="Shape 28"/>
          <p:cNvSpPr/>
          <p:nvPr/>
        </p:nvSpPr>
        <p:spPr>
          <a:xfrm>
            <a:off x="118872" y="4169664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18872" y="426110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118872" y="4443984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18872" y="4507992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118872" y="521208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18872" y="530352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118872" y="548640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18872" y="5550408"/>
            <a:ext cx="22128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Corriente, es la tasa de política monetaria promedio del Banco Central de Chile.</a:t>
            </a:r>
            <a:endParaRPr lang="en-US" sz="700" dirty="0"/>
          </a:p>
        </p:txBody>
      </p:sp>
      <p:sp>
        <p:nvSpPr>
          <p:cNvPr id="38" name="Shape 36"/>
          <p:cNvSpPr/>
          <p:nvPr/>
        </p:nvSpPr>
        <p:spPr>
          <a:xfrm>
            <a:off x="118872" y="620877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18872" y="630021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118872" y="648309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18872" y="6547104"/>
            <a:ext cx="22128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2" name="Text 40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606040" y="502920"/>
            <a:ext cx="481888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12 CLP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2606040" y="2240280"/>
            <a:ext cx="48188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Corriente</a:t>
            </a:r>
            <a:endParaRPr lang="en-US" sz="750" dirty="0"/>
          </a:p>
        </p:txBody>
      </p:sp>
      <p:graphicFrame>
        <p:nvGraphicFramePr>
          <p:cNvPr id="46" name="Chart 0" descr=""/>
          <p:cNvGraphicFramePr/>
          <p:nvPr/>
        </p:nvGraphicFramePr>
        <p:xfrm>
          <a:off x="2606040" y="2395728"/>
          <a:ext cx="4818888" cy="1691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7" name="Text 44"/>
          <p:cNvSpPr/>
          <p:nvPr/>
        </p:nvSpPr>
        <p:spPr>
          <a:xfrm>
            <a:off x="2606040" y="4242816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sp>
        <p:nvSpPr>
          <p:cNvPr id="48" name="Shape 45"/>
          <p:cNvSpPr/>
          <p:nvPr/>
        </p:nvSpPr>
        <p:spPr>
          <a:xfrm>
            <a:off x="2606040" y="4498848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4572000"/>
          <a:ext cx="4818888" cy="914400"/>
        </p:xfrm>
        <a:graphic>
          <a:graphicData uri="http://schemas.openxmlformats.org/drawingml/2006/table">
            <a:tbl>
              <a:tblPr/>
              <a:tblGrid>
                <a:gridCol w="1298448"/>
                <a:gridCol w="566928"/>
                <a:gridCol w="658368"/>
                <a:gridCol w="658368"/>
                <a:gridCol w="566928"/>
                <a:gridCol w="594360"/>
              </a:tblGrid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Acum.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4,82%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CORRIENTE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5,38%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0" name="Text 46"/>
          <p:cNvSpPr/>
          <p:nvPr/>
        </p:nvSpPr>
        <p:spPr>
          <a:xfrm>
            <a:off x="2606040" y="5349240"/>
            <a:ext cx="48188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51" name="Shape 47"/>
          <p:cNvSpPr/>
          <p:nvPr/>
        </p:nvSpPr>
        <p:spPr>
          <a:xfrm>
            <a:off x="2606040" y="5513832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5577840"/>
          <a:ext cx="4818888" cy="914400"/>
        </p:xfrm>
        <a:graphic>
          <a:graphicData uri="http://schemas.openxmlformats.org/drawingml/2006/table">
            <a:tbl>
              <a:tblPr/>
              <a:tblGrid>
                <a:gridCol w="201168"/>
                <a:gridCol w="822960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83464"/>
              </a:tblGrid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CORRIENTE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CORRIENTE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024128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8872" y="146304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118872" y="164592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872" y="171907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490472" y="171907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118872" y="191109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8872" y="200253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Instrumento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118872" y="218541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8872" y="225856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1490472" y="225856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118872" y="2450592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8872" y="2542032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118872" y="2724912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8872" y="2798064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1490472" y="2798064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22,28%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118872" y="299008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1490472" y="299008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46,66%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118872" y="318211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1490472" y="318211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31,06%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118872" y="3374136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1490472" y="3374136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606040" y="50292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28" name="Text 26"/>
          <p:cNvSpPr/>
          <p:nvPr/>
        </p:nvSpPr>
        <p:spPr>
          <a:xfrm>
            <a:off x="2606040" y="92354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2606040" y="134416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2606040" y="176479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2606040" y="2185416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2606040" y="260604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2606040" y="302666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2606040" y="344728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2606040" y="386791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6" name="Shape 34"/>
          <p:cNvSpPr/>
          <p:nvPr/>
        </p:nvSpPr>
        <p:spPr>
          <a:xfrm>
            <a:off x="2606040" y="4361688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606040" y="4489704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2606040" y="4745736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606040" y="4837176"/>
            <a:ext cx="4818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2026-05-18T17:50:29Z</dcterms:created>
  <dcterms:modified xsi:type="dcterms:W3CDTF">2026-05-18T17:50:29Z</dcterms:modified>
</cp:coreProperties>
</file>