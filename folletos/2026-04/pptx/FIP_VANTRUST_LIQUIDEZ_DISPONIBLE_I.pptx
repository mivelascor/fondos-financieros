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7562088" cy="10689336"/>
  <p:notesSz cx="10689336" cy="756208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ICP Nom.</c:v>
                </c:pt>
              </c:strCache>
            </c:strRef>
          </c:tx>
          <c:spPr>
            <a:solidFill>
              <a:srgbClr val="999999"/>
            </a:solidFill>
            <a:ln w="15240" cap="flat">
              <a:solidFill>
                <a:srgbClr val="999999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999999"/>
              </a:solidFill>
              <a:ln w="9525" cap="flat">
                <a:solidFill>
                  <a:srgbClr val="999999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Sheet1!$A$2:$A$23</c:f>
              <c:multiLvlStrCache>
                <c:ptCount val="22"/>
                <c:lvl>
                  <c:pt idx="0">
                    <c:v>Aug 2024</c:v>
                  </c:pt>
                  <c:pt idx="1">
                    <c:v>Aug 2024</c:v>
                  </c:pt>
                  <c:pt idx="2">
                    <c:v>Sep 2024</c:v>
                  </c:pt>
                  <c:pt idx="3">
                    <c:v>Oct 2024</c:v>
                  </c:pt>
                  <c:pt idx="4">
                    <c:v>Nov 2024</c:v>
                  </c:pt>
                  <c:pt idx="5">
                    <c:v>Dec 2024</c:v>
                  </c:pt>
                  <c:pt idx="6">
                    <c:v>Jan 2025</c:v>
                  </c:pt>
                  <c:pt idx="7">
                    <c:v>Feb 2025</c:v>
                  </c:pt>
                  <c:pt idx="8">
                    <c:v>Mar 2025</c:v>
                  </c:pt>
                  <c:pt idx="9">
                    <c:v>Apr 2025</c:v>
                  </c:pt>
                  <c:pt idx="10">
                    <c:v>May 2025</c:v>
                  </c:pt>
                  <c:pt idx="11">
                    <c:v>Jun 2025</c:v>
                  </c:pt>
                  <c:pt idx="12">
                    <c:v>Jul 2025</c:v>
                  </c:pt>
                  <c:pt idx="13">
                    <c:v>Aug 2025</c:v>
                  </c:pt>
                  <c:pt idx="14">
                    <c:v>Sep 2025</c:v>
                  </c:pt>
                  <c:pt idx="15">
                    <c:v>Oct 2025</c:v>
                  </c:pt>
                  <c:pt idx="16">
                    <c:v>Nov 2025</c:v>
                  </c:pt>
                  <c:pt idx="17">
                    <c:v>Dec 2025</c:v>
                  </c:pt>
                  <c:pt idx="18">
                    <c:v>Jan 2026</c:v>
                  </c:pt>
                  <c:pt idx="19">
                    <c:v>Feb 2026</c:v>
                  </c:pt>
                  <c:pt idx="20">
                    <c:v>Mar 2026</c:v>
                  </c:pt>
                  <c:pt idx="21">
                    <c:v>Apr 2026</c:v>
                  </c:pt>
                </c:lvl>
              </c:multiLvlStrCache>
            </c:multiLvlStrRef>
          </c:cat>
          <c:val>
            <c:numRef>
              <c:f>Sheet1!$B$2:$B$23</c:f>
              <c:numCache>
                <c:formatCode>General</c:formatCode>
                <c:ptCount val="22"/>
                <c:pt idx="0">
                  <c:v>100</c:v>
                </c:pt>
                <c:pt idx="1">
                  <c:v>100.48</c:v>
                </c:pt>
                <c:pt idx="2">
                  <c:v>100.96</c:v>
                </c:pt>
                <c:pt idx="3">
                  <c:v>101.42</c:v>
                </c:pt>
                <c:pt idx="4">
                  <c:v>101.86</c:v>
                </c:pt>
                <c:pt idx="5">
                  <c:v>102.31</c:v>
                </c:pt>
                <c:pt idx="6">
                  <c:v>102.77</c:v>
                </c:pt>
                <c:pt idx="7">
                  <c:v>103.17</c:v>
                </c:pt>
                <c:pt idx="8">
                  <c:v>103.61</c:v>
                </c:pt>
                <c:pt idx="9">
                  <c:v>104.05</c:v>
                </c:pt>
                <c:pt idx="10">
                  <c:v>104.48</c:v>
                </c:pt>
                <c:pt idx="11">
                  <c:v>104.93</c:v>
                </c:pt>
                <c:pt idx="12">
                  <c:v>105.38</c:v>
                </c:pt>
                <c:pt idx="13">
                  <c:v>105.79</c:v>
                </c:pt>
                <c:pt idx="14">
                  <c:v>106.24</c:v>
                </c:pt>
                <c:pt idx="15">
                  <c:v>106.66</c:v>
                </c:pt>
                <c:pt idx="16">
                  <c:v>107.07</c:v>
                </c:pt>
                <c:pt idx="17">
                  <c:v>107.51</c:v>
                </c:pt>
                <c:pt idx="18">
                  <c:v>107.93</c:v>
                </c:pt>
                <c:pt idx="19">
                  <c:v>108.32</c:v>
                </c:pt>
                <c:pt idx="20">
                  <c:v>108.74</c:v>
                </c:pt>
                <c:pt idx="21">
                  <c:v>81.08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FIP LIQUIDEZ DISPONIBLE I</c:v>
                </c:pt>
              </c:strCache>
            </c:strRef>
          </c:tx>
          <c:spPr>
            <a:solidFill>
              <a:srgbClr val="000000"/>
            </a:solidFill>
            <a:ln w="15240" cap="flat">
              <a:solidFill>
                <a:srgbClr val="0000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00000"/>
              </a:solidFill>
              <a:ln w="9525" cap="flat">
                <a:solidFill>
                  <a:srgbClr val="00000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Sheet1!$A$2:$A$23</c:f>
              <c:multiLvlStrCache>
                <c:ptCount val="22"/>
                <c:lvl>
                  <c:pt idx="0">
                    <c:v>Aug 2024</c:v>
                  </c:pt>
                  <c:pt idx="1">
                    <c:v>Aug 2024</c:v>
                  </c:pt>
                  <c:pt idx="2">
                    <c:v>Sep 2024</c:v>
                  </c:pt>
                  <c:pt idx="3">
                    <c:v>Oct 2024</c:v>
                  </c:pt>
                  <c:pt idx="4">
                    <c:v>Nov 2024</c:v>
                  </c:pt>
                  <c:pt idx="5">
                    <c:v>Dec 2024</c:v>
                  </c:pt>
                  <c:pt idx="6">
                    <c:v>Jan 2025</c:v>
                  </c:pt>
                  <c:pt idx="7">
                    <c:v>Feb 2025</c:v>
                  </c:pt>
                  <c:pt idx="8">
                    <c:v>Mar 2025</c:v>
                  </c:pt>
                  <c:pt idx="9">
                    <c:v>Apr 2025</c:v>
                  </c:pt>
                  <c:pt idx="10">
                    <c:v>May 2025</c:v>
                  </c:pt>
                  <c:pt idx="11">
                    <c:v>Jun 2025</c:v>
                  </c:pt>
                  <c:pt idx="12">
                    <c:v>Jul 2025</c:v>
                  </c:pt>
                  <c:pt idx="13">
                    <c:v>Aug 2025</c:v>
                  </c:pt>
                  <c:pt idx="14">
                    <c:v>Sep 2025</c:v>
                  </c:pt>
                  <c:pt idx="15">
                    <c:v>Oct 2025</c:v>
                  </c:pt>
                  <c:pt idx="16">
                    <c:v>Nov 2025</c:v>
                  </c:pt>
                  <c:pt idx="17">
                    <c:v>Dec 2025</c:v>
                  </c:pt>
                  <c:pt idx="18">
                    <c:v>Jan 2026</c:v>
                  </c:pt>
                  <c:pt idx="19">
                    <c:v>Feb 2026</c:v>
                  </c:pt>
                  <c:pt idx="20">
                    <c:v>Mar 2026</c:v>
                  </c:pt>
                  <c:pt idx="21">
                    <c:v>Apr 2026</c:v>
                  </c:pt>
                </c:lvl>
              </c:multiLvlStrCache>
            </c:multiLvlStrRef>
          </c:cat>
          <c:val>
            <c:numRef>
              <c:f>Sheet1!$C$2:$C$23</c:f>
              <c:numCache>
                <c:formatCode>General</c:formatCode>
                <c:ptCount val="22"/>
                <c:pt idx="0">
                  <c:v>100</c:v>
                </c:pt>
                <c:pt idx="1">
                  <c:v>100.18</c:v>
                </c:pt>
                <c:pt idx="2">
                  <c:v>100.75</c:v>
                </c:pt>
                <c:pt idx="3">
                  <c:v>101.27</c:v>
                </c:pt>
                <c:pt idx="4">
                  <c:v>101.81</c:v>
                </c:pt>
                <c:pt idx="5">
                  <c:v>102.33</c:v>
                </c:pt>
                <c:pt idx="6">
                  <c:v>102.78</c:v>
                </c:pt>
                <c:pt idx="7">
                  <c:v>103.24</c:v>
                </c:pt>
                <c:pt idx="8">
                  <c:v>103.86</c:v>
                </c:pt>
                <c:pt idx="9">
                  <c:v>104.59</c:v>
                </c:pt>
                <c:pt idx="10">
                  <c:v>105.27</c:v>
                </c:pt>
                <c:pt idx="11">
                  <c:v>105.86</c:v>
                </c:pt>
                <c:pt idx="12">
                  <c:v>106.47</c:v>
                </c:pt>
                <c:pt idx="13">
                  <c:v>107.08</c:v>
                </c:pt>
                <c:pt idx="14">
                  <c:v>107.64</c:v>
                </c:pt>
                <c:pt idx="15">
                  <c:v>108.27</c:v>
                </c:pt>
                <c:pt idx="16">
                  <c:v>108.91</c:v>
                </c:pt>
                <c:pt idx="17">
                  <c:v>109.6</c:v>
                </c:pt>
                <c:pt idx="18">
                  <c:v>110.2</c:v>
                </c:pt>
                <c:pt idx="19">
                  <c:v>110.76</c:v>
                </c:pt>
                <c:pt idx="20">
                  <c:v>111.39</c:v>
                </c:pt>
                <c:pt idx="21">
                  <c:v>111.99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Competencia Relevante (*)</c:v>
                </c:pt>
              </c:strCache>
            </c:strRef>
          </c:tx>
          <c:spPr>
            <a:solidFill>
              <a:srgbClr val="555555"/>
            </a:solidFill>
            <a:ln w="15240" cap="flat">
              <a:solidFill>
                <a:srgbClr val="555555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555555"/>
              </a:solidFill>
              <a:ln w="9525" cap="flat">
                <a:solidFill>
                  <a:srgbClr val="55555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Sheet1!$A$2:$A$23</c:f>
              <c:multiLvlStrCache>
                <c:ptCount val="22"/>
                <c:lvl>
                  <c:pt idx="0">
                    <c:v>Aug 2024</c:v>
                  </c:pt>
                  <c:pt idx="1">
                    <c:v>Aug 2024</c:v>
                  </c:pt>
                  <c:pt idx="2">
                    <c:v>Sep 2024</c:v>
                  </c:pt>
                  <c:pt idx="3">
                    <c:v>Oct 2024</c:v>
                  </c:pt>
                  <c:pt idx="4">
                    <c:v>Nov 2024</c:v>
                  </c:pt>
                  <c:pt idx="5">
                    <c:v>Dec 2024</c:v>
                  </c:pt>
                  <c:pt idx="6">
                    <c:v>Jan 2025</c:v>
                  </c:pt>
                  <c:pt idx="7">
                    <c:v>Feb 2025</c:v>
                  </c:pt>
                  <c:pt idx="8">
                    <c:v>Mar 2025</c:v>
                  </c:pt>
                  <c:pt idx="9">
                    <c:v>Apr 2025</c:v>
                  </c:pt>
                  <c:pt idx="10">
                    <c:v>May 2025</c:v>
                  </c:pt>
                  <c:pt idx="11">
                    <c:v>Jun 2025</c:v>
                  </c:pt>
                  <c:pt idx="12">
                    <c:v>Jul 2025</c:v>
                  </c:pt>
                  <c:pt idx="13">
                    <c:v>Aug 2025</c:v>
                  </c:pt>
                  <c:pt idx="14">
                    <c:v>Sep 2025</c:v>
                  </c:pt>
                  <c:pt idx="15">
                    <c:v>Oct 2025</c:v>
                  </c:pt>
                  <c:pt idx="16">
                    <c:v>Nov 2025</c:v>
                  </c:pt>
                  <c:pt idx="17">
                    <c:v>Dec 2025</c:v>
                  </c:pt>
                  <c:pt idx="18">
                    <c:v>Jan 2026</c:v>
                  </c:pt>
                  <c:pt idx="19">
                    <c:v>Feb 2026</c:v>
                  </c:pt>
                  <c:pt idx="20">
                    <c:v>Mar 2026</c:v>
                  </c:pt>
                  <c:pt idx="21">
                    <c:v>Apr 2026</c:v>
                  </c:pt>
                </c:lvl>
              </c:multiLvlStrCache>
            </c:multiLvlStrRef>
          </c:cat>
          <c:val>
            <c:numRef>
              <c:f>Sheet1!$D$2:$D$23</c:f>
              <c:numCache>
                <c:formatCode>General</c:formatCode>
                <c:ptCount val="22"/>
                <c:pt idx="0">
                  <c:v>100</c:v>
                </c:pt>
                <c:pt idx="1">
                  <c:v>100.36</c:v>
                </c:pt>
                <c:pt idx="2">
                  <c:v>100.7</c:v>
                </c:pt>
                <c:pt idx="3">
                  <c:v>101.05</c:v>
                </c:pt>
                <c:pt idx="4">
                  <c:v>101.37</c:v>
                </c:pt>
                <c:pt idx="5">
                  <c:v>101.7</c:v>
                </c:pt>
                <c:pt idx="6">
                  <c:v>102</c:v>
                </c:pt>
                <c:pt idx="7">
                  <c:v>102.29</c:v>
                </c:pt>
                <c:pt idx="8">
                  <c:v>102.6</c:v>
                </c:pt>
                <c:pt idx="9">
                  <c:v>102.91</c:v>
                </c:pt>
                <c:pt idx="10">
                  <c:v>103.22</c:v>
                </c:pt>
                <c:pt idx="11">
                  <c:v>103.53</c:v>
                </c:pt>
                <c:pt idx="12">
                  <c:v>103.84</c:v>
                </c:pt>
                <c:pt idx="13">
                  <c:v>104.15</c:v>
                </c:pt>
                <c:pt idx="14">
                  <c:v>104.44</c:v>
                </c:pt>
                <c:pt idx="15">
                  <c:v>104.74</c:v>
                </c:pt>
                <c:pt idx="16">
                  <c:v>105.03</c:v>
                </c:pt>
                <c:pt idx="17">
                  <c:v>105.33</c:v>
                </c:pt>
                <c:pt idx="18">
                  <c:v>105.61</c:v>
                </c:pt>
                <c:pt idx="19">
                  <c:v>105.87</c:v>
                </c:pt>
                <c:pt idx="20">
                  <c:v>106.16</c:v>
                </c:pt>
                <c:pt idx="21">
                  <c:v/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2"/>
      </c:catAx>
      <c:valAx>
        <c:axId val="2094734552"/>
        <c:scaling>
          <c:orientation val="minMax"/>
          <c:min val="78"/>
        </c:scaling>
        <c:delete val="0"/>
        <c:axPos val="l"/>
        <c:majorGridlines>
          <c:spPr>
            <a:ln w="3810" cap="flat">
              <a:solidFill>
                <a:srgbClr val="EEEE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600">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73736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" y="164592"/>
            <a:ext cx="221284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 Disponible</a:t>
            </a: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18872" y="142646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" y="182880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Información General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118872" y="201168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8872" y="207568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Administradora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1051560" y="207568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Gestion Patrimonial S.A.</a:t>
            </a:r>
            <a:endParaRPr lang="en-US" sz="650" dirty="0"/>
          </a:p>
        </p:txBody>
      </p:sp>
      <p:sp>
        <p:nvSpPr>
          <p:cNvPr id="10" name="Text 8"/>
          <p:cNvSpPr/>
          <p:nvPr/>
        </p:nvSpPr>
        <p:spPr>
          <a:xfrm>
            <a:off x="118872" y="224942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RUT Fondo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051560" y="224942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76.727.565-K</a:t>
            </a:r>
            <a:endParaRPr lang="en-US" sz="650" dirty="0"/>
          </a:p>
        </p:txBody>
      </p:sp>
      <p:sp>
        <p:nvSpPr>
          <p:cNvPr id="12" name="Text 10"/>
          <p:cNvSpPr/>
          <p:nvPr/>
        </p:nvSpPr>
        <p:spPr>
          <a:xfrm>
            <a:off x="118872" y="242316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Moneda</a:t>
            </a:r>
            <a:endParaRPr lang="en-US" sz="650" dirty="0"/>
          </a:p>
        </p:txBody>
      </p:sp>
      <p:sp>
        <p:nvSpPr>
          <p:cNvPr id="13" name="Text 11"/>
          <p:cNvSpPr/>
          <p:nvPr/>
        </p:nvSpPr>
        <p:spPr>
          <a:xfrm>
            <a:off x="1051560" y="242316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118872" y="2596896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 de Fondo</a:t>
            </a:r>
            <a:endParaRPr lang="en-US" sz="650" dirty="0"/>
          </a:p>
        </p:txBody>
      </p:sp>
      <p:sp>
        <p:nvSpPr>
          <p:cNvPr id="15" name="Text 13"/>
          <p:cNvSpPr/>
          <p:nvPr/>
        </p:nvSpPr>
        <p:spPr>
          <a:xfrm>
            <a:off x="1051560" y="2596896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de Inversión Privado</a:t>
            </a:r>
            <a:endParaRPr lang="en-US" sz="650" dirty="0"/>
          </a:p>
        </p:txBody>
      </p:sp>
      <p:sp>
        <p:nvSpPr>
          <p:cNvPr id="16" name="Text 14"/>
          <p:cNvSpPr/>
          <p:nvPr/>
        </p:nvSpPr>
        <p:spPr>
          <a:xfrm>
            <a:off x="118872" y="2770632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 Inicio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1051560" y="2770632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Marzo 2017</a:t>
            </a:r>
            <a:endParaRPr lang="en-US" sz="650" dirty="0"/>
          </a:p>
        </p:txBody>
      </p:sp>
      <p:sp>
        <p:nvSpPr>
          <p:cNvPr id="18" name="Text 16"/>
          <p:cNvSpPr/>
          <p:nvPr/>
        </p:nvSpPr>
        <p:spPr>
          <a:xfrm>
            <a:off x="118872" y="294436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</a:t>
            </a:r>
            <a:endParaRPr lang="en-US" sz="650" dirty="0"/>
          </a:p>
        </p:txBody>
      </p:sp>
      <p:sp>
        <p:nvSpPr>
          <p:cNvPr id="19" name="Text 17"/>
          <p:cNvSpPr/>
          <p:nvPr/>
        </p:nvSpPr>
        <p:spPr>
          <a:xfrm>
            <a:off x="1051560" y="294436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Índice Cámara Promedio (ICP)</a:t>
            </a:r>
            <a:endParaRPr lang="en-US" sz="650" dirty="0"/>
          </a:p>
        </p:txBody>
      </p:sp>
      <p:sp>
        <p:nvSpPr>
          <p:cNvPr id="20" name="Text 18"/>
          <p:cNvSpPr/>
          <p:nvPr/>
        </p:nvSpPr>
        <p:spPr>
          <a:xfrm>
            <a:off x="118872" y="311810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Rescatable</a:t>
            </a:r>
            <a:endParaRPr lang="en-US" sz="650" dirty="0"/>
          </a:p>
        </p:txBody>
      </p:sp>
      <p:sp>
        <p:nvSpPr>
          <p:cNvPr id="21" name="Text 19"/>
          <p:cNvSpPr/>
          <p:nvPr/>
        </p:nvSpPr>
        <p:spPr>
          <a:xfrm>
            <a:off x="1051560" y="311810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</a:t>
            </a:r>
            <a:endParaRPr lang="en-US" sz="650" dirty="0"/>
          </a:p>
        </p:txBody>
      </p:sp>
      <p:sp>
        <p:nvSpPr>
          <p:cNvPr id="22" name="Text 20"/>
          <p:cNvSpPr/>
          <p:nvPr/>
        </p:nvSpPr>
        <p:spPr>
          <a:xfrm>
            <a:off x="118872" y="329184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Plazo Rescate</a:t>
            </a:r>
            <a:endParaRPr lang="en-US" sz="650" dirty="0"/>
          </a:p>
        </p:txBody>
      </p:sp>
      <p:sp>
        <p:nvSpPr>
          <p:cNvPr id="23" name="Text 21"/>
          <p:cNvSpPr/>
          <p:nvPr/>
        </p:nvSpPr>
        <p:spPr>
          <a:xfrm>
            <a:off x="1051560" y="329184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más tardar 15 días corridos</a:t>
            </a:r>
            <a:endParaRPr lang="en-US" sz="650" dirty="0"/>
          </a:p>
        </p:txBody>
      </p:sp>
      <p:sp>
        <p:nvSpPr>
          <p:cNvPr id="24" name="Text 22"/>
          <p:cNvSpPr/>
          <p:nvPr/>
        </p:nvSpPr>
        <p:spPr>
          <a:xfrm>
            <a:off x="118872" y="3465576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Riesgos</a:t>
            </a:r>
            <a:endParaRPr lang="en-US" sz="650" dirty="0"/>
          </a:p>
        </p:txBody>
      </p:sp>
      <p:sp>
        <p:nvSpPr>
          <p:cNvPr id="25" name="Text 23"/>
          <p:cNvSpPr/>
          <p:nvPr/>
        </p:nvSpPr>
        <p:spPr>
          <a:xfrm>
            <a:off x="1051560" y="3465576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Mercado- Crédito - Liquidez - Tasa de interés - Derivados</a:t>
            </a:r>
            <a:endParaRPr lang="en-US" sz="650" dirty="0"/>
          </a:p>
        </p:txBody>
      </p:sp>
      <p:sp>
        <p:nvSpPr>
          <p:cNvPr id="26" name="Text 24"/>
          <p:cNvSpPr/>
          <p:nvPr/>
        </p:nvSpPr>
        <p:spPr>
          <a:xfrm>
            <a:off x="118872" y="3730752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Remuneración</a:t>
            </a:r>
            <a:endParaRPr lang="en-US" sz="650" dirty="0"/>
          </a:p>
        </p:txBody>
      </p:sp>
      <p:sp>
        <p:nvSpPr>
          <p:cNvPr id="27" name="Text 25"/>
          <p:cNvSpPr/>
          <p:nvPr/>
        </p:nvSpPr>
        <p:spPr>
          <a:xfrm>
            <a:off x="1051560" y="3730752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0,75% IVA Incluido</a:t>
            </a:r>
            <a:endParaRPr lang="en-US" sz="650" dirty="0"/>
          </a:p>
        </p:txBody>
      </p:sp>
      <p:sp>
        <p:nvSpPr>
          <p:cNvPr id="28" name="Text 26"/>
          <p:cNvSpPr/>
          <p:nvPr/>
        </p:nvSpPr>
        <p:spPr>
          <a:xfrm>
            <a:off x="118872" y="399592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Custodio</a:t>
            </a:r>
            <a:endParaRPr lang="en-US" sz="650" dirty="0"/>
          </a:p>
        </p:txBody>
      </p:sp>
      <p:sp>
        <p:nvSpPr>
          <p:cNvPr id="29" name="Text 27"/>
          <p:cNvSpPr/>
          <p:nvPr/>
        </p:nvSpPr>
        <p:spPr>
          <a:xfrm>
            <a:off x="1051560" y="399592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 C. de Bolsa</a:t>
            </a:r>
            <a:endParaRPr lang="en-US" sz="650" dirty="0"/>
          </a:p>
        </p:txBody>
      </p:sp>
      <p:sp>
        <p:nvSpPr>
          <p:cNvPr id="30" name="Shape 28"/>
          <p:cNvSpPr/>
          <p:nvPr/>
        </p:nvSpPr>
        <p:spPr>
          <a:xfrm>
            <a:off x="118872" y="4169664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18872" y="426110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118872" y="4443984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18872" y="4507992"/>
            <a:ext cx="22128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Invertir los recursos del fondo en instrumentos de deuda de corto y mediano plazo, en una cartera diversificada, obteniendo una rentabilidad igual o superior al ICP.</a:t>
            </a:r>
            <a:endParaRPr lang="en-US" sz="700" dirty="0"/>
          </a:p>
        </p:txBody>
      </p:sp>
      <p:sp>
        <p:nvSpPr>
          <p:cNvPr id="34" name="Shape 32"/>
          <p:cNvSpPr/>
          <p:nvPr/>
        </p:nvSpPr>
        <p:spPr>
          <a:xfrm>
            <a:off x="118872" y="5212080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118872" y="530352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Rentabilidad</a:t>
            </a:r>
            <a:endParaRPr lang="en-US" sz="800" dirty="0"/>
          </a:p>
        </p:txBody>
      </p:sp>
      <p:sp>
        <p:nvSpPr>
          <p:cNvPr id="36" name="Shape 34"/>
          <p:cNvSpPr/>
          <p:nvPr/>
        </p:nvSpPr>
        <p:spPr>
          <a:xfrm>
            <a:off x="118872" y="548640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18872" y="5550408"/>
            <a:ext cx="221284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rentabilidad esperada del Fip Vantrust Liquidez Disponible I, es la tasa de política monetaria promedio del Banco Central de Chile.</a:t>
            </a:r>
            <a:endParaRPr lang="en-US" sz="700" dirty="0"/>
          </a:p>
        </p:txBody>
      </p:sp>
      <p:sp>
        <p:nvSpPr>
          <p:cNvPr id="38" name="Shape 36"/>
          <p:cNvSpPr/>
          <p:nvPr/>
        </p:nvSpPr>
        <p:spPr>
          <a:xfrm>
            <a:off x="118872" y="620877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118872" y="6300216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Inversionistas</a:t>
            </a:r>
            <a:endParaRPr lang="en-US" sz="800" dirty="0"/>
          </a:p>
        </p:txBody>
      </p:sp>
      <p:sp>
        <p:nvSpPr>
          <p:cNvPr id="40" name="Shape 38"/>
          <p:cNvSpPr/>
          <p:nvPr/>
        </p:nvSpPr>
        <p:spPr>
          <a:xfrm>
            <a:off x="118872" y="6483096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118872" y="6547104"/>
            <a:ext cx="22128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Dirigida a empresas y personas que buscan invertir sus excedentes de caja con una rentabilidad de corto plazo y baja tolerancia al riesgo.</a:t>
            </a:r>
            <a:endParaRPr lang="en-US" sz="700" dirty="0"/>
          </a:p>
        </p:txBody>
      </p:sp>
      <p:sp>
        <p:nvSpPr>
          <p:cNvPr id="42" name="Text 40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Comentario Portafolio Manager</a:t>
            </a:r>
            <a:endParaRPr lang="en-US" sz="1300" dirty="0"/>
          </a:p>
        </p:txBody>
      </p:sp>
      <p:sp>
        <p:nvSpPr>
          <p:cNvPr id="43" name="Shape 41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2606040" y="502920"/>
            <a:ext cx="481888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 14 CLP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2606040" y="2240280"/>
            <a:ext cx="481888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 Disponible I</a:t>
            </a:r>
            <a:endParaRPr lang="en-US" sz="750" dirty="0"/>
          </a:p>
        </p:txBody>
      </p:sp>
      <p:graphicFrame>
        <p:nvGraphicFramePr>
          <p:cNvPr id="46" name="Chart 0" descr=""/>
          <p:cNvGraphicFramePr/>
          <p:nvPr/>
        </p:nvGraphicFramePr>
        <p:xfrm>
          <a:off x="2606040" y="2395728"/>
          <a:ext cx="4818888" cy="1691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7" name="Text 44"/>
          <p:cNvSpPr/>
          <p:nvPr/>
        </p:nvSpPr>
        <p:spPr>
          <a:xfrm>
            <a:off x="2606040" y="4242816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Evolución Rentabilidad</a:t>
            </a:r>
            <a:endParaRPr lang="en-US" sz="1300" dirty="0"/>
          </a:p>
        </p:txBody>
      </p:sp>
      <p:sp>
        <p:nvSpPr>
          <p:cNvPr id="48" name="Shape 45"/>
          <p:cNvSpPr/>
          <p:nvPr/>
        </p:nvSpPr>
        <p:spPr>
          <a:xfrm>
            <a:off x="2606040" y="4498848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4572000"/>
          <a:ext cx="4818888" cy="914400"/>
        </p:xfrm>
        <a:graphic>
          <a:graphicData uri="http://schemas.openxmlformats.org/drawingml/2006/table">
            <a:tbl>
              <a:tblPr/>
              <a:tblGrid>
                <a:gridCol w="1298448"/>
                <a:gridCol w="566928"/>
                <a:gridCol w="658368"/>
                <a:gridCol w="658368"/>
                <a:gridCol w="566928"/>
                <a:gridCol w="594360"/>
              </a:tblGrid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Rentabilidad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Mensual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Acum 2026 (*)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 (Benchmark)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-25.44%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-24.88%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-23.98%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-22.07%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-74.63%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-100.00%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-100.00%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-100.00%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-100.00%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-300.00%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DISPONIBLE I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0.54%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1.63%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3.44%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7.08%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4.88%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</a:tbl>
          </a:graphicData>
        </a:graphic>
      </p:graphicFrame>
      <p:sp>
        <p:nvSpPr>
          <p:cNvPr id="50" name="Text 46"/>
          <p:cNvSpPr/>
          <p:nvPr/>
        </p:nvSpPr>
        <p:spPr>
          <a:xfrm>
            <a:off x="2606040" y="5349240"/>
            <a:ext cx="481888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i="1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*Valores correspondientes a la rentabilidad anualizada, no acumulada</a:t>
            </a:r>
            <a:endParaRPr lang="en-US" sz="600" dirty="0"/>
          </a:p>
        </p:txBody>
      </p:sp>
      <p:sp>
        <p:nvSpPr>
          <p:cNvPr id="51" name="Shape 47"/>
          <p:cNvSpPr/>
          <p:nvPr/>
        </p:nvSpPr>
        <p:spPr>
          <a:xfrm>
            <a:off x="2606040" y="5513832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5577840"/>
          <a:ext cx="4818888" cy="914400"/>
        </p:xfrm>
        <a:graphic>
          <a:graphicData uri="http://schemas.openxmlformats.org/drawingml/2006/table">
            <a:tbl>
              <a:tblPr/>
              <a:tblGrid>
                <a:gridCol w="201168"/>
                <a:gridCol w="804672"/>
                <a:gridCol w="292608"/>
                <a:gridCol w="292608"/>
                <a:gridCol w="292608"/>
                <a:gridCol w="292608"/>
                <a:gridCol w="292608"/>
                <a:gridCol w="292608"/>
                <a:gridCol w="292608"/>
                <a:gridCol w="292608"/>
                <a:gridCol w="292608"/>
                <a:gridCol w="292608"/>
                <a:gridCol w="292608"/>
                <a:gridCol w="292608"/>
                <a:gridCol w="301752"/>
              </a:tblGrid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Fondo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Ene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Abr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Jul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Sep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Oct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Dic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2024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4.07%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DISPONIBLE I</a:t>
                      </a:r>
                      <a:endParaRPr lang="en-US" sz="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4.61%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DISPONIBLE I</a:t>
                      </a:r>
                      <a:endParaRPr lang="en-US" sz="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6.63%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-25.44%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-74.63%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-300.00%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4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DISPONIBLE I</a:t>
                      </a:r>
                      <a:endParaRPr lang="en-US" sz="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4.88%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32588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" y="1024128"/>
            <a:ext cx="2212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4" name="Shape 2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18872" y="146304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Moneda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118872" y="164592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8872" y="171907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1490472" y="171907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100,00%</a:t>
            </a:r>
            <a:endParaRPr lang="en-US" sz="750" dirty="0"/>
          </a:p>
        </p:txBody>
      </p:sp>
      <p:sp>
        <p:nvSpPr>
          <p:cNvPr id="9" name="Shape 7"/>
          <p:cNvSpPr/>
          <p:nvPr/>
        </p:nvSpPr>
        <p:spPr>
          <a:xfrm>
            <a:off x="118872" y="191109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18872" y="2002536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Instrumento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118872" y="2185416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18872" y="2258568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1490472" y="2258568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118872" y="2450592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18872" y="2542032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Duración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118872" y="2724912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18872" y="2798064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Hasta 30 días</a:t>
            </a:r>
            <a:endParaRPr lang="en-US" sz="750" dirty="0"/>
          </a:p>
        </p:txBody>
      </p:sp>
      <p:sp>
        <p:nvSpPr>
          <p:cNvPr id="18" name="Text 16"/>
          <p:cNvSpPr/>
          <p:nvPr/>
        </p:nvSpPr>
        <p:spPr>
          <a:xfrm>
            <a:off x="1490472" y="2798064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29,79%</a:t>
            </a:r>
            <a:endParaRPr lang="en-US" sz="750" dirty="0"/>
          </a:p>
        </p:txBody>
      </p:sp>
      <p:sp>
        <p:nvSpPr>
          <p:cNvPr id="19" name="Text 17"/>
          <p:cNvSpPr/>
          <p:nvPr/>
        </p:nvSpPr>
        <p:spPr>
          <a:xfrm>
            <a:off x="118872" y="2990088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31 y 90 días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1490472" y="2990088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17,81%</a:t>
            </a:r>
            <a:endParaRPr lang="en-US" sz="750" dirty="0"/>
          </a:p>
        </p:txBody>
      </p:sp>
      <p:sp>
        <p:nvSpPr>
          <p:cNvPr id="21" name="Text 19"/>
          <p:cNvSpPr/>
          <p:nvPr/>
        </p:nvSpPr>
        <p:spPr>
          <a:xfrm>
            <a:off x="118872" y="318211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91 y 120 días</a:t>
            </a:r>
            <a:endParaRPr lang="en-US" sz="750" dirty="0"/>
          </a:p>
        </p:txBody>
      </p:sp>
      <p:sp>
        <p:nvSpPr>
          <p:cNvPr id="22" name="Text 20"/>
          <p:cNvSpPr/>
          <p:nvPr/>
        </p:nvSpPr>
        <p:spPr>
          <a:xfrm>
            <a:off x="1490472" y="318211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52,40%</a:t>
            </a:r>
            <a:endParaRPr lang="en-US" sz="750" dirty="0"/>
          </a:p>
        </p:txBody>
      </p:sp>
      <p:sp>
        <p:nvSpPr>
          <p:cNvPr id="23" name="Text 21"/>
          <p:cNvSpPr/>
          <p:nvPr/>
        </p:nvSpPr>
        <p:spPr>
          <a:xfrm>
            <a:off x="118872" y="3374136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1 y 2 años</a:t>
            </a:r>
            <a:endParaRPr lang="en-US" sz="750" dirty="0"/>
          </a:p>
        </p:txBody>
      </p:sp>
      <p:sp>
        <p:nvSpPr>
          <p:cNvPr id="24" name="Text 22"/>
          <p:cNvSpPr/>
          <p:nvPr/>
        </p:nvSpPr>
        <p:spPr>
          <a:xfrm>
            <a:off x="1490472" y="3374136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0,00%</a:t>
            </a:r>
            <a:endParaRPr lang="en-US" sz="750" dirty="0"/>
          </a:p>
        </p:txBody>
      </p:sp>
      <p:sp>
        <p:nvSpPr>
          <p:cNvPr id="25" name="Text 23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Glosario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606040" y="50292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es el riesgo de una variación adversa en el precio o tasa de mercado en los instrumentos en que invierte el Fondo</a:t>
            </a:r>
            <a:endParaRPr lang="en-US" sz="700" dirty="0"/>
          </a:p>
        </p:txBody>
      </p:sp>
      <p:sp>
        <p:nvSpPr>
          <p:cNvPr id="28" name="Text 26"/>
          <p:cNvSpPr/>
          <p:nvPr/>
        </p:nvSpPr>
        <p:spPr>
          <a:xfrm>
            <a:off x="2606040" y="92354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Crédito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posible pérdida que se asume como consecuencia del incumplimiento de las obligaciones directas, indirectas o de derivados que conllevan al no pago parcial, total o falta de oportunidad del pago de los emisores de los instrumentos en que invierte el Fondo y que pudieran ocasionar una pérdida financiera.</a:t>
            </a:r>
            <a:endParaRPr lang="en-US" sz="700" dirty="0"/>
          </a:p>
        </p:txBody>
      </p:sp>
      <p:sp>
        <p:nvSpPr>
          <p:cNvPr id="29" name="Text 27"/>
          <p:cNvSpPr/>
          <p:nvPr/>
        </p:nvSpPr>
        <p:spPr>
          <a:xfrm>
            <a:off x="2606040" y="134416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Liquidez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asociado a la capacidad de generación de recursos del Fondo para cumplir con sus obligaciones de rescate o vencimiento del mismo.</a:t>
            </a:r>
            <a:endParaRPr lang="en-US" sz="700" dirty="0"/>
          </a:p>
        </p:txBody>
      </p:sp>
      <p:sp>
        <p:nvSpPr>
          <p:cNvPr id="30" name="Text 28"/>
          <p:cNvSpPr/>
          <p:nvPr/>
        </p:nvSpPr>
        <p:spPr>
          <a:xfrm>
            <a:off x="2606040" y="176479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Profundidad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 a la posibilidad de comprar o vender un activo financiero al valor de mercado en un período de tiempo acorde a las características del instrumento. Períodos de alta volatilidad de mercado afectan negativamente estos tiempos.</a:t>
            </a:r>
            <a:endParaRPr lang="en-US" sz="700" dirty="0"/>
          </a:p>
        </p:txBody>
      </p:sp>
      <p:sp>
        <p:nvSpPr>
          <p:cNvPr id="31" name="Text 29"/>
          <p:cNvSpPr/>
          <p:nvPr/>
        </p:nvSpPr>
        <p:spPr>
          <a:xfrm>
            <a:off x="2606040" y="2185416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Tasa de interés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Exposición a pérdidas ocasionadas por cambios adversos en las tasas de interés de mercado y que afecten el valor de los instrumentos, contratos y demás operaciones registradas en el balance.</a:t>
            </a:r>
            <a:endParaRPr lang="en-US" sz="700" dirty="0"/>
          </a:p>
        </p:txBody>
      </p:sp>
      <p:sp>
        <p:nvSpPr>
          <p:cNvPr id="32" name="Text 30"/>
          <p:cNvSpPr/>
          <p:nvPr/>
        </p:nvSpPr>
        <p:spPr>
          <a:xfrm>
            <a:off x="2606040" y="260604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Moneda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exposición a pérdidas ocasionadas por cambios adversos en el valor en moneda nacional de las monedas extranjeras que están expresados a los instrumentos, contratos y demás operaciones del balance del Fondo.</a:t>
            </a:r>
            <a:endParaRPr lang="en-US" sz="700" dirty="0"/>
          </a:p>
        </p:txBody>
      </p:sp>
      <p:sp>
        <p:nvSpPr>
          <p:cNvPr id="33" name="Text 31"/>
          <p:cNvSpPr/>
          <p:nvPr/>
        </p:nvSpPr>
        <p:spPr>
          <a:xfrm>
            <a:off x="2606040" y="302666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Sectorial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riesgo está asociado a condiciones de mercado adversas que pueden afectar a un sector industrial en particular y por ende la rentabilidad del Fondo.</a:t>
            </a:r>
            <a:endParaRPr lang="en-US" sz="700" dirty="0"/>
          </a:p>
        </p:txBody>
      </p:sp>
      <p:sp>
        <p:nvSpPr>
          <p:cNvPr id="34" name="Text 32"/>
          <p:cNvSpPr/>
          <p:nvPr/>
        </p:nvSpPr>
        <p:spPr>
          <a:xfrm>
            <a:off x="2606040" y="344728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Gastos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Corresponden a los gastos directos e indirectos necesarios para el correcto funcionamiento del fondo los que están detallados en el Reglamento Interno</a:t>
            </a:r>
            <a:endParaRPr lang="en-US" sz="700" dirty="0"/>
          </a:p>
        </p:txBody>
      </p:sp>
      <p:sp>
        <p:nvSpPr>
          <p:cNvPr id="35" name="Text 33"/>
          <p:cNvSpPr/>
          <p:nvPr/>
        </p:nvSpPr>
        <p:spPr>
          <a:xfrm>
            <a:off x="2606040" y="386791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 de Ingreso y Pago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moneda en que el inversionista entra al fondo es aportando pesos chilenos, y al rescate de las cuotas, el fondo le entrega pesos chilenos.</a:t>
            </a:r>
            <a:endParaRPr lang="en-US" sz="700" dirty="0"/>
          </a:p>
        </p:txBody>
      </p:sp>
      <p:sp>
        <p:nvSpPr>
          <p:cNvPr id="36" name="Shape 34"/>
          <p:cNvSpPr/>
          <p:nvPr/>
        </p:nvSpPr>
        <p:spPr>
          <a:xfrm>
            <a:off x="2606040" y="4361688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606040" y="4489704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Disclaimer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2606040" y="4745736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606040" y="4837176"/>
            <a:ext cx="4818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Conforme a la Ley Única de Fondos, las administradoras de fondos de inversión privados están sujetas a las obligaciones de información establecidas por la Comisión para el Mercado Financiero. Tales fondos no están sometidos a fiscalización de la Comisión y no hacemos oferta pública de sus cuotas.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2026-05-19T14:06:00Z</dcterms:created>
  <dcterms:modified xsi:type="dcterms:W3CDTF">2026-05-19T14:06:00Z</dcterms:modified>
</cp:coreProperties>
</file>